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840" r:id="rId1"/>
  </p:sldMasterIdLst>
  <p:notesMasterIdLst>
    <p:notesMasterId r:id="rId22"/>
  </p:notesMasterIdLst>
  <p:handoutMasterIdLst>
    <p:handoutMasterId r:id="rId23"/>
  </p:handoutMasterIdLst>
  <p:sldIdLst>
    <p:sldId id="256" r:id="rId2"/>
    <p:sldId id="267" r:id="rId3"/>
    <p:sldId id="268" r:id="rId4"/>
    <p:sldId id="270" r:id="rId5"/>
    <p:sldId id="258" r:id="rId6"/>
    <p:sldId id="280" r:id="rId7"/>
    <p:sldId id="273" r:id="rId8"/>
    <p:sldId id="274" r:id="rId9"/>
    <p:sldId id="275" r:id="rId10"/>
    <p:sldId id="284" r:id="rId11"/>
    <p:sldId id="285" r:id="rId12"/>
    <p:sldId id="286" r:id="rId13"/>
    <p:sldId id="287" r:id="rId14"/>
    <p:sldId id="288" r:id="rId15"/>
    <p:sldId id="289" r:id="rId16"/>
    <p:sldId id="290" r:id="rId17"/>
    <p:sldId id="281" r:id="rId18"/>
    <p:sldId id="276" r:id="rId19"/>
    <p:sldId id="279" r:id="rId20"/>
    <p:sldId id="278" r:id="rId2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56473E06-63CD-4111-B6F4-12B020195CF9}" v="1" dt="2025-11-18T12:27:49.918"/>
  </p1510:revLst>
</p1510:revInfo>
</file>

<file path=ppt/tableStyles.xml><?xml version="1.0" encoding="utf-8"?>
<a:tblStyleLst xmlns:a="http://schemas.openxmlformats.org/drawingml/2006/main" def="{5DA37D80-6434-44D0-A028-1B22A696006F}">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18603FDC-E32A-4AB5-989C-0864C3EAD2B8}" styleName="Themed Style 2 - Accent 2">
    <a:tblBg>
      <a:fillRef idx="3">
        <a:schemeClr val="accent2"/>
      </a:fillRef>
      <a:effectRef idx="3">
        <a:schemeClr val="accent2"/>
      </a:effectRef>
    </a:tblBg>
    <a:wholeTbl>
      <a:tcTxStyle>
        <a:fontRef idx="minor">
          <a:scrgbClr r="0" g="0" b="0"/>
        </a:fontRef>
        <a:schemeClr val="lt1"/>
      </a:tcTxStyle>
      <a:tcStyle>
        <a:tcBdr>
          <a:left>
            <a:lnRef idx="1">
              <a:schemeClr val="accent2">
                <a:tint val="50000"/>
              </a:schemeClr>
            </a:lnRef>
          </a:left>
          <a:right>
            <a:lnRef idx="1">
              <a:schemeClr val="accent2">
                <a:tint val="50000"/>
              </a:schemeClr>
            </a:lnRef>
          </a:right>
          <a:top>
            <a:lnRef idx="1">
              <a:schemeClr val="accent2">
                <a:tint val="50000"/>
              </a:schemeClr>
            </a:lnRef>
          </a:top>
          <a:bottom>
            <a:lnRef idx="1">
              <a:schemeClr val="accent2">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5DA37D80-6434-44D0-A028-1B22A696006F}" styleName="Light Style 3 - Accent 2">
    <a:wholeTbl>
      <a:tcTxStyle>
        <a:fontRef idx="minor">
          <a:scrgbClr r="0" g="0" b="0"/>
        </a:fontRef>
        <a:schemeClr val="tx1"/>
      </a:tcTxStyle>
      <a:tcStyle>
        <a:tcBdr>
          <a:left>
            <a:ln w="12700" cmpd="sng">
              <a:solidFill>
                <a:schemeClr val="accent2"/>
              </a:solidFill>
            </a:ln>
          </a:left>
          <a:right>
            <a:ln w="12700" cmpd="sng">
              <a:solidFill>
                <a:schemeClr val="accent2"/>
              </a:solidFill>
            </a:ln>
          </a:right>
          <a:top>
            <a:ln w="12700" cmpd="sng">
              <a:solidFill>
                <a:schemeClr val="accent2"/>
              </a:solidFill>
            </a:ln>
          </a:top>
          <a:bottom>
            <a:ln w="12700" cmpd="sng">
              <a:solidFill>
                <a:schemeClr val="accent2"/>
              </a:solidFill>
            </a:ln>
          </a:bottom>
          <a:insideH>
            <a:ln w="12700" cmpd="sng">
              <a:solidFill>
                <a:schemeClr val="accent2"/>
              </a:solidFill>
            </a:ln>
          </a:insideH>
          <a:insideV>
            <a:ln w="12700" cmpd="sng">
              <a:solidFill>
                <a:schemeClr val="accent2"/>
              </a:solidFill>
            </a:ln>
          </a:insideV>
        </a:tcBdr>
        <a:fill>
          <a:noFill/>
        </a:fill>
      </a:tcStyle>
    </a:wholeTbl>
    <a:band1H>
      <a:tcStyle>
        <a:tcBdr/>
        <a:fill>
          <a:solidFill>
            <a:schemeClr val="accent2">
              <a:alpha val="20000"/>
            </a:schemeClr>
          </a:solidFill>
        </a:fill>
      </a:tcStyle>
    </a:band1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50800" cmpd="dbl">
              <a:solidFill>
                <a:schemeClr val="accent2"/>
              </a:solidFill>
            </a:ln>
          </a:top>
        </a:tcBdr>
        <a:fill>
          <a:noFill/>
        </a:fill>
      </a:tcStyle>
    </a:lastRow>
    <a:firstRow>
      <a:tcTxStyle b="on"/>
      <a:tcStyle>
        <a:tcBdr>
          <a:bottom>
            <a:ln w="25400" cmpd="sng">
              <a:solidFill>
                <a:schemeClr val="accent2"/>
              </a:solidFill>
            </a:ln>
          </a:bottom>
        </a:tcBdr>
        <a:fill>
          <a:noFill/>
        </a:fill>
      </a:tcStyle>
    </a:firstRow>
  </a:tblStyle>
  <a:tblStyle styleId="{BC89EF96-8CEA-46FF-86C4-4CE0E7609802}" styleName="Light Style 3 - Accent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 styleId="{5A111915-BE36-4E01-A7E5-04B1672EAD32}" styleName="Light Style 2 - Accent 5">
    <a:wholeTbl>
      <a:tcTxStyle>
        <a:fontRef idx="minor">
          <a:scrgbClr r="0" g="0" b="0"/>
        </a:fontRef>
        <a:schemeClr val="tx1"/>
      </a:tcTxStyle>
      <a:tcStyle>
        <a:tcBdr>
          <a:left>
            <a:lnRef idx="1">
              <a:schemeClr val="accent5"/>
            </a:lnRef>
          </a:left>
          <a:right>
            <a:lnRef idx="1">
              <a:schemeClr val="accent5"/>
            </a:lnRef>
          </a:right>
          <a:top>
            <a:lnRef idx="1">
              <a:schemeClr val="accent5"/>
            </a:lnRef>
          </a:top>
          <a:bottom>
            <a:lnRef idx="1">
              <a:schemeClr val="accent5"/>
            </a:lnRef>
          </a:bottom>
          <a:insideH>
            <a:ln>
              <a:noFill/>
            </a:ln>
          </a:insideH>
          <a:insideV>
            <a:ln>
              <a:noFill/>
            </a:ln>
          </a:insideV>
        </a:tcBdr>
        <a:fill>
          <a:noFill/>
        </a:fill>
      </a:tcStyle>
    </a:wholeTbl>
    <a:band1H>
      <a:tcStyle>
        <a:tcBdr>
          <a:top>
            <a:lnRef idx="1">
              <a:schemeClr val="accent5"/>
            </a:lnRef>
          </a:top>
          <a:bottom>
            <a:lnRef idx="1">
              <a:schemeClr val="accent5"/>
            </a:lnRef>
          </a:bottom>
        </a:tcBdr>
      </a:tcStyle>
    </a:band1H>
    <a:band1V>
      <a:tcStyle>
        <a:tcBdr>
          <a:left>
            <a:lnRef idx="1">
              <a:schemeClr val="accent5"/>
            </a:lnRef>
          </a:left>
          <a:right>
            <a:lnRef idx="1">
              <a:schemeClr val="accent5"/>
            </a:lnRef>
          </a:right>
        </a:tcBdr>
      </a:tcStyle>
    </a:band1V>
    <a:band2V>
      <a:tcStyle>
        <a:tcBdr>
          <a:left>
            <a:lnRef idx="1">
              <a:schemeClr val="accent5"/>
            </a:lnRef>
          </a:left>
          <a:right>
            <a:lnRef idx="1">
              <a:schemeClr val="accent5"/>
            </a:lnRef>
          </a:right>
        </a:tcBdr>
      </a:tcStyle>
    </a:band2V>
    <a:lastCol>
      <a:tcTxStyle b="on"/>
      <a:tcStyle>
        <a:tcBdr/>
      </a:tcStyle>
    </a:lastCol>
    <a:firstCol>
      <a:tcTxStyle b="on"/>
      <a:tcStyle>
        <a:tcBdr/>
      </a:tcStyle>
    </a:firstCol>
    <a:lastRow>
      <a:tcTxStyle b="on"/>
      <a:tcStyle>
        <a:tcBdr>
          <a:top>
            <a:ln w="50800" cmpd="dbl">
              <a:solidFill>
                <a:schemeClr val="accent5"/>
              </a:solidFill>
            </a:ln>
          </a:top>
        </a:tcBdr>
      </a:tcStyle>
    </a:lastRow>
    <a:firstRow>
      <a:tcTxStyle b="on">
        <a:fontRef idx="minor">
          <a:scrgbClr r="0" g="0" b="0"/>
        </a:fontRef>
        <a:schemeClr val="bg1"/>
      </a:tcTxStyle>
      <a:tcStyle>
        <a:tcBdr/>
        <a:fillRef idx="1">
          <a:schemeClr val="accent5"/>
        </a:fillRef>
      </a:tcStyle>
    </a:firstRow>
  </a:tblStyle>
  <a:tblStyle styleId="{E8034E78-7F5D-4C2E-B375-FC64B27BC917}" styleName="Dark Style 1">
    <a:wholeTbl>
      <a:tcTxStyle>
        <a:fontRef idx="minor">
          <a:scrgbClr r="0" g="0" b="0"/>
        </a:fontRef>
        <a:schemeClr val="lt1"/>
      </a:tcTxStyle>
      <a:tcStyle>
        <a:tcBdr>
          <a:left>
            <a:ln>
              <a:noFill/>
            </a:ln>
          </a:left>
          <a:right>
            <a:ln>
              <a:noFill/>
            </a:ln>
          </a:right>
          <a:top>
            <a:ln>
              <a:noFill/>
            </a:ln>
          </a:top>
          <a:bottom>
            <a:ln>
              <a:noFill/>
            </a:ln>
          </a:bottom>
          <a:insideH>
            <a:ln>
              <a:noFill/>
            </a:ln>
          </a:insideH>
          <a:insideV>
            <a:ln>
              <a:no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left>
            <a:ln w="25400" cmpd="sng">
              <a:solidFill>
                <a:schemeClr val="lt1"/>
              </a:solidFill>
            </a:ln>
          </a:left>
        </a:tcBdr>
        <a:fill>
          <a:solidFill>
            <a:schemeClr val="dk1">
              <a:tint val="60000"/>
            </a:schemeClr>
          </a:solidFill>
        </a:fill>
      </a:tcStyle>
    </a:lastCol>
    <a:firstCol>
      <a:tcTxStyle b="on"/>
      <a:tcStyle>
        <a:tcBdr>
          <a:right>
            <a:ln w="25400" cmpd="sng">
              <a:solidFill>
                <a:schemeClr val="lt1"/>
              </a:solidFill>
            </a:ln>
          </a:right>
        </a:tcBdr>
        <a:fill>
          <a:solidFill>
            <a:schemeClr val="dk1">
              <a:tint val="60000"/>
            </a:schemeClr>
          </a:solidFill>
        </a:fill>
      </a:tcStyle>
    </a:firstCol>
    <a:lastRow>
      <a:tcTxStyle b="on"/>
      <a:tcStyle>
        <a:tcBdr>
          <a:top>
            <a:ln w="25400" cmpd="sng">
              <a:solidFill>
                <a:schemeClr val="lt1"/>
              </a:solidFill>
            </a:ln>
          </a:top>
        </a:tcBdr>
        <a:fill>
          <a:solidFill>
            <a:schemeClr val="dk1">
              <a:tint val="60000"/>
            </a:schemeClr>
          </a:solidFill>
        </a:fill>
      </a:tcStyle>
    </a:lastRow>
    <a:seCell>
      <a:tcStyle>
        <a:tcBdr>
          <a:left>
            <a:ln>
              <a:noFill/>
            </a:ln>
          </a:left>
        </a:tcBdr>
      </a:tcStyle>
    </a:seCell>
    <a:swCell>
      <a:tcStyle>
        <a:tcBdr>
          <a:right>
            <a:ln>
              <a:noFill/>
            </a:ln>
          </a:right>
        </a:tcBdr>
      </a:tcStyle>
    </a:swCell>
    <a:firstRow>
      <a:tcTxStyle b="on"/>
      <a:tcStyle>
        <a:tcBdr>
          <a:bottom>
            <a:ln w="25400" cmpd="sng">
              <a:solidFill>
                <a:schemeClr val="lt1"/>
              </a:solidFill>
            </a:ln>
          </a:bottom>
        </a:tcBdr>
        <a:fill>
          <a:solidFill>
            <a:schemeClr val="dk1"/>
          </a:solidFill>
        </a:fill>
      </a:tcStyle>
    </a:firstRow>
    <a:neCell>
      <a:tcStyle>
        <a:tcBdr>
          <a:left>
            <a:ln>
              <a:noFill/>
            </a:ln>
          </a:left>
        </a:tcBdr>
      </a:tcStyle>
    </a:neCell>
    <a:nwCell>
      <a:tcStyle>
        <a:tcBdr>
          <a:right>
            <a:ln>
              <a:noFill/>
            </a:ln>
          </a:right>
        </a:tcBdr>
      </a:tcStyle>
    </a:nwCell>
  </a:tblStyle>
  <a:tblStyle styleId="{69012ECD-51FC-41F1-AA8D-1B2483CD663E}" styleName="Light Style 2 - Accent 1">
    <a:wholeTbl>
      <a:tcTxStyle>
        <a:fontRef idx="minor">
          <a:scrgbClr r="0" g="0" b="0"/>
        </a:fontRef>
        <a:schemeClr val="tx1"/>
      </a:tcTxStyle>
      <a:tcStyle>
        <a:tcBdr>
          <a:left>
            <a:lnRef idx="1">
              <a:schemeClr val="accent1"/>
            </a:lnRef>
          </a:left>
          <a:right>
            <a:lnRef idx="1">
              <a:schemeClr val="accent1"/>
            </a:lnRef>
          </a:right>
          <a:top>
            <a:lnRef idx="1">
              <a:schemeClr val="accent1"/>
            </a:lnRef>
          </a:top>
          <a:bottom>
            <a:lnRef idx="1">
              <a:schemeClr val="accent1"/>
            </a:lnRef>
          </a:bottom>
          <a:insideH>
            <a:ln>
              <a:noFill/>
            </a:ln>
          </a:insideH>
          <a:insideV>
            <a:ln>
              <a:noFill/>
            </a:ln>
          </a:insideV>
        </a:tcBdr>
        <a:fill>
          <a:noFill/>
        </a:fill>
      </a:tcStyle>
    </a:wholeTbl>
    <a:band1H>
      <a:tcStyle>
        <a:tcBdr>
          <a:top>
            <a:lnRef idx="1">
              <a:schemeClr val="accent1"/>
            </a:lnRef>
          </a:top>
          <a:bottom>
            <a:lnRef idx="1">
              <a:schemeClr val="accent1"/>
            </a:lnRef>
          </a:bottom>
        </a:tcBdr>
      </a:tcStyle>
    </a:band1H>
    <a:band1V>
      <a:tcStyle>
        <a:tcBdr>
          <a:left>
            <a:lnRef idx="1">
              <a:schemeClr val="accent1"/>
            </a:lnRef>
          </a:left>
          <a:right>
            <a:lnRef idx="1">
              <a:schemeClr val="accent1"/>
            </a:lnRef>
          </a:right>
        </a:tcBdr>
      </a:tcStyle>
    </a:band1V>
    <a:band2V>
      <a:tcStyle>
        <a:tcBdr>
          <a:left>
            <a:lnRef idx="1">
              <a:schemeClr val="accent1"/>
            </a:lnRef>
          </a:left>
          <a:right>
            <a:lnRef idx="1">
              <a:schemeClr val="accent1"/>
            </a:lnRef>
          </a:right>
        </a:tcBdr>
      </a:tcStyle>
    </a:band2V>
    <a:lastCol>
      <a:tcTxStyle b="on"/>
      <a:tcStyle>
        <a:tcBdr/>
      </a:tcStyle>
    </a:lastCol>
    <a:firstCol>
      <a:tcTxStyle b="on"/>
      <a:tcStyle>
        <a:tcBdr/>
      </a:tcStyle>
    </a:firstCol>
    <a:lastRow>
      <a:tcTxStyle b="on"/>
      <a:tcStyle>
        <a:tcBdr>
          <a:top>
            <a:ln w="50800" cmpd="dbl">
              <a:solidFill>
                <a:schemeClr val="accent1"/>
              </a:solidFill>
            </a:ln>
          </a:top>
        </a:tcBdr>
      </a:tcStyle>
    </a:lastRow>
    <a:firstRow>
      <a:tcTxStyle b="on">
        <a:fontRef idx="minor">
          <a:scrgbClr r="0" g="0" b="0"/>
        </a:fontRef>
        <a:schemeClr val="bg1"/>
      </a:tcTxStyle>
      <a:tcStyle>
        <a:tcBdr/>
        <a:fillRef idx="1">
          <a:schemeClr val="accent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7967" autoAdjust="0"/>
    <p:restoredTop sz="94660"/>
  </p:normalViewPr>
  <p:slideViewPr>
    <p:cSldViewPr snapToGrid="0">
      <p:cViewPr varScale="1">
        <p:scale>
          <a:sx n="82" d="100"/>
          <a:sy n="82" d="100"/>
        </p:scale>
        <p:origin x="581" y="72"/>
      </p:cViewPr>
      <p:guideLst>
        <p:guide orient="horz" pos="2160"/>
        <p:guide pos="3840"/>
      </p:guideLst>
    </p:cSldViewPr>
  </p:slideViewPr>
  <p:notesTextViewPr>
    <p:cViewPr>
      <p:scale>
        <a:sx n="1" d="1"/>
        <a:sy n="1" d="1"/>
      </p:scale>
      <p:origin x="0" y="0"/>
    </p:cViewPr>
  </p:notesTextViewPr>
  <p:notesViewPr>
    <p:cSldViewPr snapToGrid="0">
      <p:cViewPr varScale="1">
        <p:scale>
          <a:sx n="63" d="100"/>
          <a:sy n="63" d="100"/>
        </p:scale>
        <p:origin x="1986" y="108"/>
      </p:cViewPr>
      <p:guideLst/>
    </p:cSldViewPr>
  </p:notes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28" Type="http://schemas.microsoft.com/office/2015/10/relationships/revisionInfo" Target="revisionInfo.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DE71268B-8AC2-4239-8FAF-7C144C210720}" type="datetimeFigureOut">
              <a:rPr lang="en-US"/>
              <a:t>2/13/2026</a:t>
            </a:fld>
            <a:endParaRPr/>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402BA2C8-71FC-43D0-BD87-0547616971FA}" type="slidenum">
              <a:rPr/>
              <a:t>‹#›</a:t>
            </a:fld>
            <a:endParaRPr/>
          </a:p>
        </p:txBody>
      </p:sp>
    </p:spTree>
    <p:extLst>
      <p:ext uri="{BB962C8B-B14F-4D97-AF65-F5344CB8AC3E}">
        <p14:creationId xmlns:p14="http://schemas.microsoft.com/office/powerpoint/2010/main" val="37292136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5AD8362-6D63-40AC-BAA9-90C3AE6D5875}" type="datetimeFigureOut">
              <a:rPr lang="en-US"/>
              <a:t>2/13/2026</a:t>
            </a:fld>
            <a:endParaRPr/>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a:p>
        </p:txBody>
      </p:sp>
      <p:sp>
        <p:nvSpPr>
          <p:cNvPr id="5" name="Notes Placeholder 4"/>
          <p:cNvSpPr>
            <a:spLocks noGrp="1"/>
          </p:cNvSpPr>
          <p:nvPr>
            <p:ph type="body" sz="quarter" idx="3"/>
          </p:nvPr>
        </p:nvSpPr>
        <p:spPr>
          <a:xfrm>
            <a:off x="685800" y="4400550"/>
            <a:ext cx="5486400" cy="3086100"/>
          </a:xfrm>
          <a:prstGeom prst="rect">
            <a:avLst/>
          </a:prstGeom>
        </p:spPr>
        <p:txBody>
          <a:bodyPr vert="horz" lIns="91440" tIns="45720" rIns="91440" bIns="45720" rtlCol="0"/>
          <a:lstStyle/>
          <a:p>
            <a:pPr lvl="0"/>
            <a:r>
              <a:t>Click to edit Master text styles</a:t>
            </a:r>
          </a:p>
          <a:p>
            <a:pPr lvl="1"/>
            <a:r>
              <a:t>Second level</a:t>
            </a:r>
          </a:p>
          <a:p>
            <a:pPr lvl="2"/>
            <a:r>
              <a:t>Third level</a:t>
            </a:r>
          </a:p>
          <a:p>
            <a:pPr lvl="3"/>
            <a:r>
              <a:t>Fourth level</a:t>
            </a:r>
          </a:p>
          <a:p>
            <a:pPr lvl="4"/>
            <a:r>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6539446-6953-447E-A4E3-E7CFBF870046}" type="slidenum">
              <a:rPr/>
              <a:t>‹#›</a:t>
            </a:fld>
            <a:endParaRPr/>
          </a:p>
        </p:txBody>
      </p:sp>
    </p:spTree>
    <p:extLst>
      <p:ext uri="{BB962C8B-B14F-4D97-AF65-F5344CB8AC3E}">
        <p14:creationId xmlns:p14="http://schemas.microsoft.com/office/powerpoint/2010/main" val="142392923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sp>
        <p:nvSpPr>
          <p:cNvPr id="4" name="water3"/>
          <p:cNvSpPr/>
          <p:nvPr/>
        </p:nvSpPr>
        <p:spPr bwMode="gray">
          <a:xfrm>
            <a:off x="2552" y="5243129"/>
            <a:ext cx="12188952" cy="1614871"/>
          </a:xfrm>
          <a:prstGeom prst="rect">
            <a:avLst/>
          </a:prstGeom>
          <a:gradFill>
            <a:gsLst>
              <a:gs pos="833">
                <a:schemeClr val="accent2">
                  <a:lumMod val="60000"/>
                  <a:lumOff val="40000"/>
                  <a:alpha val="38000"/>
                </a:schemeClr>
              </a:gs>
              <a:gs pos="23000">
                <a:schemeClr val="accent2">
                  <a:lumMod val="60000"/>
                  <a:lumOff val="40000"/>
                </a:schemeClr>
              </a:gs>
              <a:gs pos="100000">
                <a:schemeClr val="accent2">
                  <a:lumMod val="20000"/>
                  <a:lumOff val="80000"/>
                  <a:alpha val="89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5" name="sky"/>
          <p:cNvSpPr/>
          <p:nvPr/>
        </p:nvSpPr>
        <p:spPr bwMode="white">
          <a:xfrm>
            <a:off x="2552" y="0"/>
            <a:ext cx="12188952" cy="5334000"/>
          </a:xfrm>
          <a:prstGeom prst="rect">
            <a:avLst/>
          </a:prstGeom>
          <a:gradFill>
            <a:gsLst>
              <a:gs pos="0">
                <a:schemeClr val="accent2">
                  <a:lumMod val="60000"/>
                  <a:lumOff val="40000"/>
                  <a:alpha val="80000"/>
                </a:schemeClr>
              </a:gs>
              <a:gs pos="99000">
                <a:schemeClr val="accent2">
                  <a:lumMod val="20000"/>
                  <a:lumOff val="80000"/>
                  <a:alpha val="6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6" name="water2"/>
          <p:cNvPicPr>
            <a:picLocks noChangeAspect="1"/>
          </p:cNvPicPr>
          <p:nvPr/>
        </p:nvPicPr>
        <p:blipFill rotWithShape="1">
          <a:blip r:embed="rId2" cstate="print">
            <a:extLst>
              <a:ext uri="{28A0092B-C50C-407E-A947-70E740481C1C}">
                <a14:useLocalDpi xmlns:a14="http://schemas.microsoft.com/office/drawing/2010/main" val="0"/>
              </a:ext>
            </a:extLst>
          </a:blip>
          <a:srcRect l="2674" r="9901"/>
          <a:stretch/>
        </p:blipFill>
        <p:spPr bwMode="ltGray">
          <a:xfrm>
            <a:off x="-1425" y="5497897"/>
            <a:ext cx="12188952" cy="463209"/>
          </a:xfrm>
          <a:prstGeom prst="rect">
            <a:avLst/>
          </a:prstGeom>
          <a:noFill/>
          <a:ln>
            <a:noFill/>
          </a:ln>
        </p:spPr>
      </p:pic>
      <p:pic>
        <p:nvPicPr>
          <p:cNvPr id="7" name="water1"/>
          <p:cNvPicPr>
            <a:picLocks noChangeAspect="1"/>
          </p:cNvPicPr>
          <p:nvPr/>
        </p:nvPicPr>
        <p:blipFill rotWithShape="1">
          <a:blip r:embed="rId3" cstate="print">
            <a:duotone>
              <a:schemeClr val="accent2">
                <a:shade val="45000"/>
                <a:satMod val="135000"/>
              </a:schemeClr>
              <a:prstClr val="white"/>
            </a:duotone>
            <a:extLst>
              <a:ext uri="{28A0092B-C50C-407E-A947-70E740481C1C}">
                <a14:useLocalDpi xmlns:a14="http://schemas.microsoft.com/office/drawing/2010/main" val="0"/>
              </a:ext>
            </a:extLst>
          </a:blip>
          <a:srcRect l="6218" r="6356"/>
          <a:stretch/>
        </p:blipFill>
        <p:spPr bwMode="gray">
          <a:xfrm flipH="1">
            <a:off x="-1425" y="5221111"/>
            <a:ext cx="12188952" cy="268288"/>
          </a:xfrm>
          <a:prstGeom prst="rect">
            <a:avLst/>
          </a:prstGeom>
          <a:noFill/>
          <a:ln>
            <a:noFill/>
          </a:ln>
        </p:spPr>
      </p:pic>
      <p:sp>
        <p:nvSpPr>
          <p:cNvPr id="8" name="Rectangle 7"/>
          <p:cNvSpPr/>
          <p:nvPr/>
        </p:nvSpPr>
        <p:spPr>
          <a:xfrm>
            <a:off x="-1425" y="5961106"/>
            <a:ext cx="12188952" cy="896846"/>
          </a:xfrm>
          <a:prstGeom prst="rect">
            <a:avLst/>
          </a:prstGeom>
          <a:gradFill>
            <a:gsLst>
              <a:gs pos="25000">
                <a:schemeClr val="accent6">
                  <a:lumMod val="60000"/>
                  <a:lumOff val="40000"/>
                  <a:alpha val="0"/>
                </a:schemeClr>
              </a:gs>
              <a:gs pos="100000">
                <a:schemeClr val="accent6"/>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ctrTitle"/>
          </p:nvPr>
        </p:nvSpPr>
        <p:spPr>
          <a:xfrm>
            <a:off x="1305872" y="1309047"/>
            <a:ext cx="9602789" cy="2667000"/>
          </a:xfrm>
        </p:spPr>
        <p:txBody>
          <a:bodyPr anchor="b">
            <a:noAutofit/>
          </a:bodyPr>
          <a:lstStyle>
            <a:lvl1pPr algn="ctr">
              <a:defRPr sz="6000"/>
            </a:lvl1pPr>
          </a:lstStyle>
          <a:p>
            <a:r>
              <a:rPr lang="en-US"/>
              <a:t>Click to edit Master title style</a:t>
            </a:r>
            <a:endParaRPr/>
          </a:p>
        </p:txBody>
      </p:sp>
      <p:sp>
        <p:nvSpPr>
          <p:cNvPr id="3" name="Subtitle 2"/>
          <p:cNvSpPr>
            <a:spLocks noGrp="1"/>
          </p:cNvSpPr>
          <p:nvPr>
            <p:ph type="subTitle" idx="1"/>
          </p:nvPr>
        </p:nvSpPr>
        <p:spPr>
          <a:xfrm>
            <a:off x="1305872" y="4038600"/>
            <a:ext cx="9601200" cy="990600"/>
          </a:xfrm>
        </p:spPr>
        <p:txBody>
          <a:bodyPr>
            <a:normAutofit/>
          </a:bodyPr>
          <a:lstStyle>
            <a:lvl1pPr marL="0" indent="0" algn="ctr">
              <a:spcBef>
                <a:spcPts val="0"/>
              </a:spcBef>
              <a:buNone/>
              <a:defRPr sz="1800" cap="all" baseline="0">
                <a:solidFill>
                  <a:schemeClr val="accent2">
                    <a:lumMod val="75000"/>
                  </a:schemeClr>
                </a:solidFill>
              </a:defRPr>
            </a:lvl1pPr>
            <a:lvl2pPr marL="457200" indent="0" algn="ctr">
              <a:buNone/>
              <a:defRPr sz="2800"/>
            </a:lvl2pPr>
            <a:lvl3pPr marL="914400" indent="0" algn="ctr">
              <a:buNone/>
              <a:defRPr sz="24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en-US"/>
              <a:t>Click to edit Master subtitle style</a:t>
            </a:r>
            <a:endParaRPr/>
          </a:p>
        </p:txBody>
      </p:sp>
    </p:spTree>
    <p:extLst>
      <p:ext uri="{BB962C8B-B14F-4D97-AF65-F5344CB8AC3E}">
        <p14:creationId xmlns:p14="http://schemas.microsoft.com/office/powerpoint/2010/main" val="294236191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Content Placeholder 2"/>
          <p:cNvSpPr>
            <a:spLocks noGrp="1"/>
          </p:cNvSpPr>
          <p:nvPr>
            <p:ph idx="1"/>
          </p:nvPr>
        </p:nvSpPr>
        <p:spPr/>
        <p:txBody>
          <a:bodyPr/>
          <a:lstStyle>
            <a:lvl5pPr>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4" name="Date Placeholder 3"/>
          <p:cNvSpPr>
            <a:spLocks noGrp="1"/>
          </p:cNvSpPr>
          <p:nvPr>
            <p:ph type="dt" sz="half" idx="10"/>
          </p:nvPr>
        </p:nvSpPr>
        <p:spPr/>
        <p:txBody>
          <a:bodyPr/>
          <a:lstStyle/>
          <a:p>
            <a:fld id="{7B2D3E9E-A95C-48F2-B4BF-A71542E0BE9A}" type="datetime1">
              <a:rPr lang="en-US"/>
              <a:t>2/13/2026</a:t>
            </a:fld>
            <a:endParaRPr/>
          </a:p>
        </p:txBody>
      </p:sp>
      <p:sp>
        <p:nvSpPr>
          <p:cNvPr id="6" name="Slide Number Placeholder 5"/>
          <p:cNvSpPr>
            <a:spLocks noGrp="1"/>
          </p:cNvSpPr>
          <p:nvPr>
            <p:ph type="sldNum" sz="quarter" idx="12"/>
          </p:nvPr>
        </p:nvSpPr>
        <p:spPr/>
        <p:txBody>
          <a:bodyPr/>
          <a:lstStyle/>
          <a:p>
            <a:fld id="{4FAB73BC-B049-4115-A692-8D63A059BFB8}" type="slidenum">
              <a:rPr/>
              <a:t>‹#›</a:t>
            </a:fld>
            <a:endParaRPr/>
          </a:p>
        </p:txBody>
      </p:sp>
    </p:spTree>
    <p:extLst>
      <p:ext uri="{BB962C8B-B14F-4D97-AF65-F5344CB8AC3E}">
        <p14:creationId xmlns:p14="http://schemas.microsoft.com/office/powerpoint/2010/main" val="34050823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secHead" preserve="1">
  <p:cSld name="Section Header">
    <p:spTree>
      <p:nvGrpSpPr>
        <p:cNvPr id="1" name=""/>
        <p:cNvGrpSpPr/>
        <p:nvPr/>
      </p:nvGrpSpPr>
      <p:grpSpPr>
        <a:xfrm>
          <a:off x="0" y="0"/>
          <a:ext cx="0" cy="0"/>
          <a:chOff x="0" y="0"/>
          <a:chExt cx="0" cy="0"/>
        </a:xfrm>
      </p:grpSpPr>
      <p:sp>
        <p:nvSpPr>
          <p:cNvPr id="7" name="sky"/>
          <p:cNvSpPr/>
          <p:nvPr/>
        </p:nvSpPr>
        <p:spPr>
          <a:xfrm>
            <a:off x="2552" y="-1"/>
            <a:ext cx="12188952" cy="6858002"/>
          </a:xfrm>
          <a:prstGeom prst="rect">
            <a:avLst/>
          </a:prstGeom>
          <a:gradFill>
            <a:gsLst>
              <a:gs pos="0">
                <a:schemeClr val="accent2">
                  <a:lumMod val="60000"/>
                  <a:lumOff val="40000"/>
                  <a:alpha val="80000"/>
                </a:schemeClr>
              </a:gs>
              <a:gs pos="99000">
                <a:schemeClr val="accent2">
                  <a:lumMod val="20000"/>
                  <a:lumOff val="80000"/>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a:endParaRPr/>
          </a:p>
        </p:txBody>
      </p:sp>
      <p:sp>
        <p:nvSpPr>
          <p:cNvPr id="2" name="Title 1"/>
          <p:cNvSpPr>
            <a:spLocks noGrp="1"/>
          </p:cNvSpPr>
          <p:nvPr>
            <p:ph type="title"/>
          </p:nvPr>
        </p:nvSpPr>
        <p:spPr>
          <a:xfrm>
            <a:off x="1293813" y="1309047"/>
            <a:ext cx="9601252" cy="2667000"/>
          </a:xfrm>
        </p:spPr>
        <p:txBody>
          <a:bodyPr anchor="b">
            <a:normAutofit/>
          </a:bodyPr>
          <a:lstStyle>
            <a:lvl1pPr algn="ctr">
              <a:defRPr sz="6000" b="0"/>
            </a:lvl1pPr>
          </a:lstStyle>
          <a:p>
            <a:r>
              <a:rPr lang="en-US"/>
              <a:t>Click to edit Master title style</a:t>
            </a:r>
            <a:endParaRPr/>
          </a:p>
        </p:txBody>
      </p:sp>
      <p:sp>
        <p:nvSpPr>
          <p:cNvPr id="3" name="Text Placeholder 2"/>
          <p:cNvSpPr>
            <a:spLocks noGrp="1"/>
          </p:cNvSpPr>
          <p:nvPr>
            <p:ph type="body" idx="1"/>
          </p:nvPr>
        </p:nvSpPr>
        <p:spPr>
          <a:xfrm>
            <a:off x="1293813" y="4038600"/>
            <a:ext cx="9601200" cy="1143000"/>
          </a:xfrm>
        </p:spPr>
        <p:txBody>
          <a:bodyPr anchor="t">
            <a:normAutofit/>
          </a:bodyPr>
          <a:lstStyle>
            <a:lvl1pPr marL="0" indent="0" algn="ctr">
              <a:spcBef>
                <a:spcPts val="0"/>
              </a:spcBef>
              <a:buNone/>
              <a:defRPr sz="2000" cap="all" baseline="0">
                <a:solidFill>
                  <a:schemeClr val="accent2">
                    <a:lumMod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4" name="Date Placeholder 3"/>
          <p:cNvSpPr>
            <a:spLocks noGrp="1"/>
          </p:cNvSpPr>
          <p:nvPr>
            <p:ph type="dt" sz="half" idx="10"/>
          </p:nvPr>
        </p:nvSpPr>
        <p:spPr/>
        <p:txBody>
          <a:bodyPr/>
          <a:lstStyle/>
          <a:p>
            <a:fld id="{A50F84E2-2D7A-43CF-AC90-352A289A783A}" type="datetime1">
              <a:rPr lang="en-US"/>
              <a:t>2/13/2026</a:t>
            </a:fld>
            <a:endParaRPr/>
          </a:p>
        </p:txBody>
      </p:sp>
      <p:sp>
        <p:nvSpPr>
          <p:cNvPr id="6" name="Slide Number Placeholder 5"/>
          <p:cNvSpPr>
            <a:spLocks noGrp="1"/>
          </p:cNvSpPr>
          <p:nvPr>
            <p:ph type="sldNum" sz="quarter" idx="12"/>
          </p:nvPr>
        </p:nvSpPr>
        <p:spPr/>
        <p:txBody>
          <a:bodyPr/>
          <a:lstStyle/>
          <a:p>
            <a:fld id="{4FAB73BC-B049-4115-A692-8D63A059BFB8}" type="slidenum">
              <a:rPr/>
              <a:t>‹#›</a:t>
            </a:fld>
            <a:endParaRPr/>
          </a:p>
        </p:txBody>
      </p:sp>
    </p:spTree>
    <p:extLst>
      <p:ext uri="{BB962C8B-B14F-4D97-AF65-F5344CB8AC3E}">
        <p14:creationId xmlns:p14="http://schemas.microsoft.com/office/powerpoint/2010/main" val="30435599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4" name="Content Placeholder 3"/>
          <p:cNvSpPr>
            <a:spLocks noGrp="1"/>
          </p:cNvSpPr>
          <p:nvPr>
            <p:ph sz="half" idx="2"/>
          </p:nvPr>
        </p:nvSpPr>
        <p:spPr>
          <a:xfrm>
            <a:off x="6278880" y="1572768"/>
            <a:ext cx="4572000" cy="4142232"/>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3" name="Content Placeholder 2"/>
          <p:cNvSpPr>
            <a:spLocks noGrp="1"/>
          </p:cNvSpPr>
          <p:nvPr>
            <p:ph sz="half" idx="1"/>
          </p:nvPr>
        </p:nvSpPr>
        <p:spPr>
          <a:xfrm>
            <a:off x="1341120" y="1572768"/>
            <a:ext cx="4572000" cy="4142232"/>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6" name="Footer Placeholder 5"/>
          <p:cNvSpPr>
            <a:spLocks noGrp="1"/>
          </p:cNvSpPr>
          <p:nvPr>
            <p:ph type="ftr" sz="quarter" idx="11"/>
          </p:nvPr>
        </p:nvSpPr>
        <p:spPr/>
        <p:txBody>
          <a:bodyPr/>
          <a:lstStyle/>
          <a:p>
            <a:r>
              <a:rPr lang="en-US" dirty="0"/>
              <a:t>Add a footer</a:t>
            </a:r>
            <a:endParaRPr dirty="0"/>
          </a:p>
        </p:txBody>
      </p:sp>
      <p:sp>
        <p:nvSpPr>
          <p:cNvPr id="5" name="Date Placeholder 4"/>
          <p:cNvSpPr>
            <a:spLocks noGrp="1"/>
          </p:cNvSpPr>
          <p:nvPr>
            <p:ph type="dt" sz="half" idx="10"/>
          </p:nvPr>
        </p:nvSpPr>
        <p:spPr/>
        <p:txBody>
          <a:bodyPr/>
          <a:lstStyle/>
          <a:p>
            <a:fld id="{F12952B5-7A2F-4CC8-B7CE-9234E21C2837}" type="datetime1">
              <a:rPr lang="en-US"/>
              <a:t>2/13/2026</a:t>
            </a:fld>
            <a:endParaRPr/>
          </a:p>
        </p:txBody>
      </p:sp>
      <p:sp>
        <p:nvSpPr>
          <p:cNvPr id="7" name="Slide Number Placeholder 6"/>
          <p:cNvSpPr>
            <a:spLocks noGrp="1"/>
          </p:cNvSpPr>
          <p:nvPr>
            <p:ph type="sldNum" sz="quarter" idx="12"/>
          </p:nvPr>
        </p:nvSpPr>
        <p:spPr/>
        <p:txBody>
          <a:bodyPr/>
          <a:lstStyle/>
          <a:p>
            <a:fld id="{4FAB73BC-B049-4115-A692-8D63A059BFB8}" type="slidenum">
              <a:rPr/>
              <a:t>‹#›</a:t>
            </a:fld>
            <a:endParaRPr/>
          </a:p>
        </p:txBody>
      </p:sp>
    </p:spTree>
    <p:extLst>
      <p:ext uri="{BB962C8B-B14F-4D97-AF65-F5344CB8AC3E}">
        <p14:creationId xmlns:p14="http://schemas.microsoft.com/office/powerpoint/2010/main" val="424937877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en-US"/>
              <a:t>Click to edit Master title style</a:t>
            </a:r>
            <a:endParaRPr/>
          </a:p>
        </p:txBody>
      </p:sp>
      <p:sp>
        <p:nvSpPr>
          <p:cNvPr id="3" name="Text Placeholder 2"/>
          <p:cNvSpPr>
            <a:spLocks noGrp="1"/>
          </p:cNvSpPr>
          <p:nvPr>
            <p:ph type="body" idx="1"/>
          </p:nvPr>
        </p:nvSpPr>
        <p:spPr>
          <a:xfrm>
            <a:off x="1341120" y="1572768"/>
            <a:ext cx="4572000" cy="766588"/>
          </a:xfrm>
        </p:spPr>
        <p:txBody>
          <a:bodyPr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1341120" y="2365861"/>
            <a:ext cx="4572000" cy="334914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Text Placeholder 4"/>
          <p:cNvSpPr>
            <a:spLocks noGrp="1"/>
          </p:cNvSpPr>
          <p:nvPr>
            <p:ph type="body" sz="quarter" idx="3"/>
          </p:nvPr>
        </p:nvSpPr>
        <p:spPr>
          <a:xfrm>
            <a:off x="6278880" y="1572768"/>
            <a:ext cx="4572000" cy="766588"/>
          </a:xfrm>
        </p:spPr>
        <p:txBody>
          <a:bodyPr anchor="ctr">
            <a:normAutofit/>
          </a:bodyPr>
          <a:lstStyle>
            <a:lvl1pPr marL="0" indent="0">
              <a:spcBef>
                <a:spcPts val="0"/>
              </a:spcBef>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278880" y="2365861"/>
            <a:ext cx="4572000" cy="3349140"/>
          </a:xfrm>
        </p:spPr>
        <p:txBody>
          <a:bodyPr>
            <a:normAutofit/>
          </a:bodyPr>
          <a:lstStyle>
            <a:lvl1pPr>
              <a:defRPr sz="1800"/>
            </a:lvl1pPr>
            <a:lvl2pPr>
              <a:defRPr sz="1600"/>
            </a:lvl2pPr>
            <a:lvl3pPr>
              <a:defRPr sz="1400"/>
            </a:lvl3pPr>
            <a:lvl4pPr>
              <a:defRPr sz="1200"/>
            </a:lvl4pPr>
            <a:lvl5pPr>
              <a:defRPr sz="1200"/>
            </a:lvl5pPr>
            <a:lvl6pPr>
              <a:defRPr sz="1200"/>
            </a:lvl6pPr>
            <a:lvl7pPr>
              <a:defRPr sz="1200"/>
            </a:lvl7pPr>
            <a:lvl8pPr>
              <a:defRPr sz="1200"/>
            </a:lvl8pPr>
            <a:lvl9pPr>
              <a:defRPr sz="12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8" name="Footer Placeholder 7"/>
          <p:cNvSpPr>
            <a:spLocks noGrp="1"/>
          </p:cNvSpPr>
          <p:nvPr>
            <p:ph type="ftr" sz="quarter" idx="11"/>
          </p:nvPr>
        </p:nvSpPr>
        <p:spPr/>
        <p:txBody>
          <a:bodyPr/>
          <a:lstStyle/>
          <a:p>
            <a:r>
              <a:rPr lang="en-US" dirty="0"/>
              <a:t>Add a footer</a:t>
            </a:r>
            <a:endParaRPr dirty="0"/>
          </a:p>
        </p:txBody>
      </p:sp>
      <p:sp>
        <p:nvSpPr>
          <p:cNvPr id="7" name="Date Placeholder 6"/>
          <p:cNvSpPr>
            <a:spLocks noGrp="1"/>
          </p:cNvSpPr>
          <p:nvPr>
            <p:ph type="dt" sz="half" idx="10"/>
          </p:nvPr>
        </p:nvSpPr>
        <p:spPr/>
        <p:txBody>
          <a:bodyPr/>
          <a:lstStyle/>
          <a:p>
            <a:fld id="{CE1DA07A-9201-4B4B-BAF2-015AFA30F520}" type="datetime1">
              <a:rPr lang="en-US"/>
              <a:t>2/13/2026</a:t>
            </a:fld>
            <a:endParaRPr/>
          </a:p>
        </p:txBody>
      </p:sp>
      <p:sp>
        <p:nvSpPr>
          <p:cNvPr id="9" name="Slide Number Placeholder 8"/>
          <p:cNvSpPr>
            <a:spLocks noGrp="1"/>
          </p:cNvSpPr>
          <p:nvPr>
            <p:ph type="sldNum" sz="quarter" idx="12"/>
          </p:nvPr>
        </p:nvSpPr>
        <p:spPr/>
        <p:txBody>
          <a:bodyPr/>
          <a:lstStyle/>
          <a:p>
            <a:fld id="{4FAB73BC-B049-4115-A692-8D63A059BFB8}" type="slidenum">
              <a:rPr/>
              <a:t>‹#›</a:t>
            </a:fld>
            <a:endParaRPr/>
          </a:p>
        </p:txBody>
      </p:sp>
    </p:spTree>
    <p:extLst>
      <p:ext uri="{BB962C8B-B14F-4D97-AF65-F5344CB8AC3E}">
        <p14:creationId xmlns:p14="http://schemas.microsoft.com/office/powerpoint/2010/main" val="10723781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Title 5"/>
          <p:cNvSpPr>
            <a:spLocks noGrp="1"/>
          </p:cNvSpPr>
          <p:nvPr>
            <p:ph type="title"/>
          </p:nvPr>
        </p:nvSpPr>
        <p:spPr/>
        <p:txBody>
          <a:bodyPr/>
          <a:lstStyle/>
          <a:p>
            <a:r>
              <a:rPr lang="en-US"/>
              <a:t>Click to edit Master title style</a:t>
            </a:r>
            <a:endParaRPr/>
          </a:p>
        </p:txBody>
      </p:sp>
      <p:sp>
        <p:nvSpPr>
          <p:cNvPr id="4" name="Footer Placeholder 3"/>
          <p:cNvSpPr>
            <a:spLocks noGrp="1"/>
          </p:cNvSpPr>
          <p:nvPr>
            <p:ph type="ftr" sz="quarter" idx="11"/>
          </p:nvPr>
        </p:nvSpPr>
        <p:spPr/>
        <p:txBody>
          <a:bodyPr/>
          <a:lstStyle/>
          <a:p>
            <a:r>
              <a:rPr lang="en-US" dirty="0"/>
              <a:t>Add a footer</a:t>
            </a:r>
            <a:endParaRPr dirty="0"/>
          </a:p>
        </p:txBody>
      </p:sp>
      <p:sp>
        <p:nvSpPr>
          <p:cNvPr id="3" name="Date Placeholder 2"/>
          <p:cNvSpPr>
            <a:spLocks noGrp="1"/>
          </p:cNvSpPr>
          <p:nvPr>
            <p:ph type="dt" sz="half" idx="10"/>
          </p:nvPr>
        </p:nvSpPr>
        <p:spPr/>
        <p:txBody>
          <a:bodyPr/>
          <a:lstStyle/>
          <a:p>
            <a:fld id="{73D7E00A-486F-4252-8B1D-E32645521F49}" type="datetime1">
              <a:rPr lang="en-US"/>
              <a:t>2/13/2026</a:t>
            </a:fld>
            <a:endParaRPr/>
          </a:p>
        </p:txBody>
      </p:sp>
      <p:sp>
        <p:nvSpPr>
          <p:cNvPr id="5" name="Slide Number Placeholder 4"/>
          <p:cNvSpPr>
            <a:spLocks noGrp="1"/>
          </p:cNvSpPr>
          <p:nvPr>
            <p:ph type="sldNum" sz="quarter" idx="12"/>
          </p:nvPr>
        </p:nvSpPr>
        <p:spPr/>
        <p:txBody>
          <a:bodyPr/>
          <a:lstStyle/>
          <a:p>
            <a:fld id="{4FAB73BC-B049-4115-A692-8D63A059BFB8}" type="slidenum">
              <a:rPr/>
              <a:t>‹#›</a:t>
            </a:fld>
            <a:endParaRPr/>
          </a:p>
        </p:txBody>
      </p:sp>
    </p:spTree>
    <p:extLst>
      <p:ext uri="{BB962C8B-B14F-4D97-AF65-F5344CB8AC3E}">
        <p14:creationId xmlns:p14="http://schemas.microsoft.com/office/powerpoint/2010/main" val="36818866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blank" preserve="1">
  <p:cSld name="Blank">
    <p:spTree>
      <p:nvGrpSpPr>
        <p:cNvPr id="1" name=""/>
        <p:cNvGrpSpPr/>
        <p:nvPr/>
      </p:nvGrpSpPr>
      <p:grpSpPr>
        <a:xfrm>
          <a:off x="0" y="0"/>
          <a:ext cx="0" cy="0"/>
          <a:chOff x="0" y="0"/>
          <a:chExt cx="0" cy="0"/>
        </a:xfrm>
      </p:grpSpPr>
      <p:sp>
        <p:nvSpPr>
          <p:cNvPr id="5" name="sky"/>
          <p:cNvSpPr/>
          <p:nvPr/>
        </p:nvSpPr>
        <p:spPr>
          <a:xfrm>
            <a:off x="2552" y="-1"/>
            <a:ext cx="12188952" cy="6858002"/>
          </a:xfrm>
          <a:prstGeom prst="rect">
            <a:avLst/>
          </a:prstGeom>
          <a:gradFill>
            <a:gsLst>
              <a:gs pos="0">
                <a:schemeClr val="accent2">
                  <a:lumMod val="60000"/>
                  <a:lumOff val="40000"/>
                  <a:alpha val="80000"/>
                </a:schemeClr>
              </a:gs>
              <a:gs pos="99000">
                <a:schemeClr val="accent2">
                  <a:lumMod val="20000"/>
                  <a:lumOff val="80000"/>
                  <a:alpha val="0"/>
                </a:scheme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a:endParaRPr/>
          </a:p>
        </p:txBody>
      </p:sp>
      <p:sp>
        <p:nvSpPr>
          <p:cNvPr id="3" name="Footer Placeholder 2"/>
          <p:cNvSpPr>
            <a:spLocks noGrp="1"/>
          </p:cNvSpPr>
          <p:nvPr>
            <p:ph type="ftr" sz="quarter" idx="11"/>
          </p:nvPr>
        </p:nvSpPr>
        <p:spPr/>
        <p:txBody>
          <a:bodyPr/>
          <a:lstStyle/>
          <a:p>
            <a:r>
              <a:rPr lang="en-US" dirty="0"/>
              <a:t>Add a footer</a:t>
            </a:r>
            <a:endParaRPr dirty="0"/>
          </a:p>
        </p:txBody>
      </p:sp>
      <p:sp>
        <p:nvSpPr>
          <p:cNvPr id="2" name="Date Placeholder 1"/>
          <p:cNvSpPr>
            <a:spLocks noGrp="1"/>
          </p:cNvSpPr>
          <p:nvPr>
            <p:ph type="dt" sz="half" idx="10"/>
          </p:nvPr>
        </p:nvSpPr>
        <p:spPr/>
        <p:txBody>
          <a:bodyPr/>
          <a:lstStyle/>
          <a:p>
            <a:fld id="{8DDF5F92-E675-4B36-9A60-69A962A68675}" type="datetime1">
              <a:rPr lang="en-US"/>
              <a:t>2/13/2026</a:t>
            </a:fld>
            <a:endParaRPr/>
          </a:p>
        </p:txBody>
      </p:sp>
      <p:sp>
        <p:nvSpPr>
          <p:cNvPr id="4" name="Slide Number Placeholder 3"/>
          <p:cNvSpPr>
            <a:spLocks noGrp="1"/>
          </p:cNvSpPr>
          <p:nvPr>
            <p:ph type="sldNum" sz="quarter" idx="12"/>
          </p:nvPr>
        </p:nvSpPr>
        <p:spPr/>
        <p:txBody>
          <a:bodyPr/>
          <a:lstStyle/>
          <a:p>
            <a:fld id="{4FAB73BC-B049-4115-A692-8D63A059BFB8}" type="slidenum">
              <a:rPr/>
              <a:t>‹#›</a:t>
            </a:fld>
            <a:endParaRPr/>
          </a:p>
        </p:txBody>
      </p:sp>
    </p:spTree>
    <p:extLst>
      <p:ext uri="{BB962C8B-B14F-4D97-AF65-F5344CB8AC3E}">
        <p14:creationId xmlns:p14="http://schemas.microsoft.com/office/powerpoint/2010/main" val="49226242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7479" y="762000"/>
            <a:ext cx="3377133" cy="2743200"/>
          </a:xfrm>
        </p:spPr>
        <p:txBody>
          <a:bodyPr anchor="b">
            <a:normAutofit/>
          </a:bodyPr>
          <a:lstStyle>
            <a:lvl1pPr>
              <a:defRPr sz="3200" b="0"/>
            </a:lvl1pPr>
          </a:lstStyle>
          <a:p>
            <a:r>
              <a:rPr lang="en-US"/>
              <a:t>Click to edit Master title style</a:t>
            </a:r>
            <a:endParaRPr/>
          </a:p>
        </p:txBody>
      </p:sp>
      <p:sp>
        <p:nvSpPr>
          <p:cNvPr id="3" name="Content Placeholder 2"/>
          <p:cNvSpPr>
            <a:spLocks noGrp="1"/>
          </p:cNvSpPr>
          <p:nvPr>
            <p:ph idx="1"/>
          </p:nvPr>
        </p:nvSpPr>
        <p:spPr>
          <a:xfrm>
            <a:off x="760413" y="685800"/>
            <a:ext cx="6858000" cy="4572000"/>
          </a:xfrm>
        </p:spPr>
        <p:txBody>
          <a:bodyPr>
            <a:normAutofit/>
          </a:bodyPr>
          <a:lstStyle>
            <a:lvl1pPr>
              <a:defRPr sz="2000"/>
            </a:lvl1pPr>
            <a:lvl2pPr>
              <a:defRPr sz="1800"/>
            </a:lvl2pPr>
            <a:lvl3pPr>
              <a:defRPr sz="1600"/>
            </a:lvl3pPr>
            <a:lvl4pPr>
              <a:defRPr sz="1400"/>
            </a:lvl4pPr>
            <a:lvl5pPr>
              <a:defRPr sz="1400"/>
            </a:lvl5pPr>
            <a:lvl6pPr>
              <a:defRPr sz="1400"/>
            </a:lvl6pPr>
            <a:lvl7pPr>
              <a:defRPr sz="1400"/>
            </a:lvl7pPr>
            <a:lvl8pPr>
              <a:defRPr sz="1400"/>
            </a:lvl8pPr>
            <a:lvl9pPr>
              <a:defRPr sz="14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4" name="Text Placeholder 3"/>
          <p:cNvSpPr>
            <a:spLocks noGrp="1"/>
          </p:cNvSpPr>
          <p:nvPr>
            <p:ph type="body" sz="half" idx="2"/>
          </p:nvPr>
        </p:nvSpPr>
        <p:spPr>
          <a:xfrm>
            <a:off x="8127479" y="3554104"/>
            <a:ext cx="3377133" cy="1703696"/>
          </a:xfrm>
        </p:spPr>
        <p:txBody>
          <a:bodyPr>
            <a:normAutofit/>
          </a:bodyPr>
          <a:lstStyle>
            <a:lvl1pPr marL="0" indent="0">
              <a:lnSpc>
                <a:spcPct val="90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endParaRPr dirty="0"/>
          </a:p>
        </p:txBody>
      </p:sp>
      <p:sp>
        <p:nvSpPr>
          <p:cNvPr id="5" name="Date Placeholder 4"/>
          <p:cNvSpPr>
            <a:spLocks noGrp="1"/>
          </p:cNvSpPr>
          <p:nvPr>
            <p:ph type="dt" sz="half" idx="10"/>
          </p:nvPr>
        </p:nvSpPr>
        <p:spPr/>
        <p:txBody>
          <a:bodyPr/>
          <a:lstStyle/>
          <a:p>
            <a:fld id="{AF6E2C9B-5FA2-460D-9BE7-B0812FC2A6FF}" type="datetime1">
              <a:rPr lang="en-US"/>
              <a:t>2/13/2026</a:t>
            </a:fld>
            <a:endParaRPr/>
          </a:p>
        </p:txBody>
      </p:sp>
      <p:sp>
        <p:nvSpPr>
          <p:cNvPr id="7" name="Slide Number Placeholder 6"/>
          <p:cNvSpPr>
            <a:spLocks noGrp="1"/>
          </p:cNvSpPr>
          <p:nvPr>
            <p:ph type="sldNum" sz="quarter" idx="12"/>
          </p:nvPr>
        </p:nvSpPr>
        <p:spPr/>
        <p:txBody>
          <a:bodyPr/>
          <a:lstStyle/>
          <a:p>
            <a:fld id="{4FAB73BC-B049-4115-A692-8D63A059BFB8}" type="slidenum">
              <a:rPr/>
              <a:t>‹#›</a:t>
            </a:fld>
            <a:endParaRPr/>
          </a:p>
        </p:txBody>
      </p:sp>
    </p:spTree>
    <p:extLst>
      <p:ext uri="{BB962C8B-B14F-4D97-AF65-F5344CB8AC3E}">
        <p14:creationId xmlns:p14="http://schemas.microsoft.com/office/powerpoint/2010/main" val="14838976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27479" y="762000"/>
            <a:ext cx="3377133" cy="2743200"/>
          </a:xfrm>
        </p:spPr>
        <p:txBody>
          <a:bodyPr anchor="b">
            <a:normAutofit/>
          </a:bodyPr>
          <a:lstStyle>
            <a:lvl1pPr>
              <a:defRPr sz="3400" b="0"/>
            </a:lvl1pPr>
          </a:lstStyle>
          <a:p>
            <a:r>
              <a:rPr lang="en-US"/>
              <a:t>Click to edit Master title style</a:t>
            </a:r>
            <a:endParaRPr/>
          </a:p>
        </p:txBody>
      </p:sp>
      <p:sp>
        <p:nvSpPr>
          <p:cNvPr id="3" name="Picture Placeholder 2" descr="An empty placeholder to add an image. Click on the placeholder and select the image that you wish to add"/>
          <p:cNvSpPr>
            <a:spLocks noGrp="1"/>
          </p:cNvSpPr>
          <p:nvPr>
            <p:ph type="pic" idx="1"/>
          </p:nvPr>
        </p:nvSpPr>
        <p:spPr>
          <a:xfrm>
            <a:off x="760413" y="685800"/>
            <a:ext cx="6858000" cy="4572000"/>
          </a:xfrm>
          <a:solidFill>
            <a:schemeClr val="bg1">
              <a:lumMod val="95000"/>
            </a:schemeClr>
          </a:solidFill>
        </p:spPr>
        <p:txBody>
          <a:bodyPr>
            <a:normAutofit/>
          </a:bodyPr>
          <a:lstStyle>
            <a:lvl1pPr marL="0" indent="0" algn="ctr">
              <a:buNone/>
              <a:defRPr sz="24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a:p>
        </p:txBody>
      </p:sp>
      <p:sp>
        <p:nvSpPr>
          <p:cNvPr id="4" name="Text Placeholder 3"/>
          <p:cNvSpPr>
            <a:spLocks noGrp="1"/>
          </p:cNvSpPr>
          <p:nvPr>
            <p:ph type="body" sz="half" idx="2"/>
          </p:nvPr>
        </p:nvSpPr>
        <p:spPr>
          <a:xfrm>
            <a:off x="8127479" y="3554104"/>
            <a:ext cx="3377133" cy="1703696"/>
          </a:xfrm>
        </p:spPr>
        <p:txBody>
          <a:bodyPr>
            <a:normAutofit/>
          </a:bodyPr>
          <a:lstStyle>
            <a:lvl1pPr marL="0" indent="0">
              <a:lnSpc>
                <a:spcPct val="100000"/>
              </a:lnSpc>
              <a:spcBef>
                <a:spcPts val="8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6" name="Footer Placeholder 5"/>
          <p:cNvSpPr>
            <a:spLocks noGrp="1"/>
          </p:cNvSpPr>
          <p:nvPr>
            <p:ph type="ftr" sz="quarter" idx="11"/>
          </p:nvPr>
        </p:nvSpPr>
        <p:spPr/>
        <p:txBody>
          <a:bodyPr/>
          <a:lstStyle/>
          <a:p>
            <a:r>
              <a:rPr lang="en-US" dirty="0"/>
              <a:t>Add a footer</a:t>
            </a:r>
            <a:endParaRPr dirty="0"/>
          </a:p>
        </p:txBody>
      </p:sp>
      <p:sp>
        <p:nvSpPr>
          <p:cNvPr id="5" name="Date Placeholder 4"/>
          <p:cNvSpPr>
            <a:spLocks noGrp="1"/>
          </p:cNvSpPr>
          <p:nvPr>
            <p:ph type="dt" sz="half" idx="10"/>
          </p:nvPr>
        </p:nvSpPr>
        <p:spPr/>
        <p:txBody>
          <a:bodyPr/>
          <a:lstStyle/>
          <a:p>
            <a:fld id="{1D374940-A916-4C8B-9648-02A2D3898F9E}" type="datetime1">
              <a:rPr lang="en-US"/>
              <a:t>2/13/2026</a:t>
            </a:fld>
            <a:endParaRPr/>
          </a:p>
        </p:txBody>
      </p:sp>
      <p:sp>
        <p:nvSpPr>
          <p:cNvPr id="7" name="Slide Number Placeholder 6"/>
          <p:cNvSpPr>
            <a:spLocks noGrp="1"/>
          </p:cNvSpPr>
          <p:nvPr>
            <p:ph type="sldNum" sz="quarter" idx="12"/>
          </p:nvPr>
        </p:nvSpPr>
        <p:spPr/>
        <p:txBody>
          <a:bodyPr/>
          <a:lstStyle/>
          <a:p>
            <a:fld id="{4FAB73BC-B049-4115-A692-8D63A059BFB8}" type="slidenum">
              <a:rPr/>
              <a:t>‹#›</a:t>
            </a:fld>
            <a:endParaRPr/>
          </a:p>
        </p:txBody>
      </p:sp>
    </p:spTree>
    <p:extLst>
      <p:ext uri="{BB962C8B-B14F-4D97-AF65-F5344CB8AC3E}">
        <p14:creationId xmlns:p14="http://schemas.microsoft.com/office/powerpoint/2010/main" val="421661512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4" name="Date Placeholder 3"/>
          <p:cNvSpPr>
            <a:spLocks noGrp="1"/>
          </p:cNvSpPr>
          <p:nvPr>
            <p:ph type="dt" sz="half" idx="10"/>
          </p:nvPr>
        </p:nvSpPr>
        <p:spPr/>
        <p:txBody>
          <a:bodyPr/>
          <a:lstStyle/>
          <a:p>
            <a:fld id="{5F4E5243-F52A-4D37-9694-EB26C6C31910}" type="datetime1">
              <a:rPr lang="en-US"/>
              <a:t>2/13/2026</a:t>
            </a:fld>
            <a:endParaRPr/>
          </a:p>
        </p:txBody>
      </p:sp>
      <p:sp>
        <p:nvSpPr>
          <p:cNvPr id="6" name="Slide Number Placeholder 5"/>
          <p:cNvSpPr>
            <a:spLocks noGrp="1"/>
          </p:cNvSpPr>
          <p:nvPr>
            <p:ph type="sldNum" sz="quarter" idx="12"/>
          </p:nvPr>
        </p:nvSpPr>
        <p:spPr/>
        <p:txBody>
          <a:bodyPr/>
          <a:lstStyle/>
          <a:p>
            <a:fld id="{4FAB73BC-B049-4115-A692-8D63A059BFB8}" type="slidenum">
              <a:rPr/>
              <a:t>‹#›</a:t>
            </a:fld>
            <a:endParaRPr/>
          </a:p>
        </p:txBody>
      </p:sp>
    </p:spTree>
    <p:extLst>
      <p:ext uri="{BB962C8B-B14F-4D97-AF65-F5344CB8AC3E}">
        <p14:creationId xmlns:p14="http://schemas.microsoft.com/office/powerpoint/2010/main" val="353625688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274638"/>
            <a:ext cx="2628900" cy="5440362"/>
          </a:xfrm>
        </p:spPr>
        <p:txBody>
          <a:bodyPr vert="eaVert"/>
          <a:lstStyle/>
          <a:p>
            <a:r>
              <a:rPr lang="en-US"/>
              <a:t>Click to edit Master title style</a:t>
            </a:r>
            <a:endParaRPr/>
          </a:p>
        </p:txBody>
      </p:sp>
      <p:sp>
        <p:nvSpPr>
          <p:cNvPr id="3" name="Vertical Text Placeholder 2"/>
          <p:cNvSpPr>
            <a:spLocks noGrp="1"/>
          </p:cNvSpPr>
          <p:nvPr>
            <p:ph type="body" orient="vert" idx="1"/>
          </p:nvPr>
        </p:nvSpPr>
        <p:spPr>
          <a:xfrm>
            <a:off x="838200" y="274638"/>
            <a:ext cx="7734300" cy="5440362"/>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a:p>
        </p:txBody>
      </p:sp>
      <p:sp>
        <p:nvSpPr>
          <p:cNvPr id="5" name="Footer Placeholder 4"/>
          <p:cNvSpPr>
            <a:spLocks noGrp="1"/>
          </p:cNvSpPr>
          <p:nvPr>
            <p:ph type="ftr" sz="quarter" idx="11"/>
          </p:nvPr>
        </p:nvSpPr>
        <p:spPr/>
        <p:txBody>
          <a:bodyPr/>
          <a:lstStyle/>
          <a:p>
            <a:r>
              <a:rPr lang="en-US" dirty="0"/>
              <a:t>Add a footer</a:t>
            </a:r>
            <a:endParaRPr dirty="0"/>
          </a:p>
        </p:txBody>
      </p:sp>
      <p:sp>
        <p:nvSpPr>
          <p:cNvPr id="4" name="Date Placeholder 3"/>
          <p:cNvSpPr>
            <a:spLocks noGrp="1"/>
          </p:cNvSpPr>
          <p:nvPr>
            <p:ph type="dt" sz="half" idx="10"/>
          </p:nvPr>
        </p:nvSpPr>
        <p:spPr/>
        <p:txBody>
          <a:bodyPr/>
          <a:lstStyle/>
          <a:p>
            <a:fld id="{3A77B6E1-634A-48DC-9E8B-D894023267EF}" type="datetime1">
              <a:rPr lang="en-US"/>
              <a:t>2/13/2026</a:t>
            </a:fld>
            <a:endParaRPr/>
          </a:p>
        </p:txBody>
      </p:sp>
      <p:sp>
        <p:nvSpPr>
          <p:cNvPr id="6" name="Slide Number Placeholder 5"/>
          <p:cNvSpPr>
            <a:spLocks noGrp="1"/>
          </p:cNvSpPr>
          <p:nvPr>
            <p:ph type="sldNum" sz="quarter" idx="12"/>
          </p:nvPr>
        </p:nvSpPr>
        <p:spPr/>
        <p:txBody>
          <a:bodyPr/>
          <a:lstStyle/>
          <a:p>
            <a:fld id="{4FAB73BC-B049-4115-A692-8D63A059BFB8}" type="slidenum">
              <a:rPr/>
              <a:t>‹#›</a:t>
            </a:fld>
            <a:endParaRPr/>
          </a:p>
        </p:txBody>
      </p:sp>
    </p:spTree>
    <p:extLst>
      <p:ext uri="{BB962C8B-B14F-4D97-AF65-F5344CB8AC3E}">
        <p14:creationId xmlns:p14="http://schemas.microsoft.com/office/powerpoint/2010/main" val="13586516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png"/></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sky"/>
          <p:cNvSpPr/>
          <p:nvPr/>
        </p:nvSpPr>
        <p:spPr>
          <a:xfrm>
            <a:off x="2552" y="-1"/>
            <a:ext cx="12188952" cy="6858002"/>
          </a:xfrm>
          <a:prstGeom prst="rect">
            <a:avLst/>
          </a:prstGeom>
          <a:gradFill>
            <a:gsLst>
              <a:gs pos="0">
                <a:schemeClr val="accent2">
                  <a:lumMod val="60000"/>
                  <a:lumOff val="40000"/>
                  <a:alpha val="58000"/>
                </a:schemeClr>
              </a:gs>
              <a:gs pos="88000">
                <a:schemeClr val="accent2">
                  <a:lumMod val="20000"/>
                  <a:lumOff val="80000"/>
                  <a:alpha val="65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lIns="822960" rtlCol="0" anchor="ctr"/>
          <a:lstStyle/>
          <a:p>
            <a:pPr algn="ctr"/>
            <a:endParaRPr/>
          </a:p>
        </p:txBody>
      </p:sp>
      <p:sp>
        <p:nvSpPr>
          <p:cNvPr id="8" name="water3"/>
          <p:cNvSpPr/>
          <p:nvPr/>
        </p:nvSpPr>
        <p:spPr bwMode="gray">
          <a:xfrm>
            <a:off x="2552" y="6064101"/>
            <a:ext cx="12188952" cy="793899"/>
          </a:xfrm>
          <a:prstGeom prst="rect">
            <a:avLst/>
          </a:prstGeom>
          <a:gradFill>
            <a:gsLst>
              <a:gs pos="833">
                <a:schemeClr val="accent2">
                  <a:lumMod val="60000"/>
                  <a:lumOff val="40000"/>
                  <a:alpha val="38000"/>
                </a:schemeClr>
              </a:gs>
              <a:gs pos="49000">
                <a:schemeClr val="accent2">
                  <a:lumMod val="60000"/>
                  <a:lumOff val="40000"/>
                </a:schemeClr>
              </a:gs>
              <a:gs pos="100000">
                <a:schemeClr val="accent2">
                  <a:lumMod val="20000"/>
                  <a:lumOff val="80000"/>
                  <a:alpha val="89000"/>
                </a:scheme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pic>
        <p:nvPicPr>
          <p:cNvPr id="9" name="water2"/>
          <p:cNvPicPr>
            <a:picLocks noChangeAspect="1"/>
          </p:cNvPicPr>
          <p:nvPr/>
        </p:nvPicPr>
        <p:blipFill rotWithShape="1">
          <a:blip r:embed="rId13" cstate="print">
            <a:extLst>
              <a:ext uri="{28A0092B-C50C-407E-A947-70E740481C1C}">
                <a14:useLocalDpi xmlns:a14="http://schemas.microsoft.com/office/drawing/2010/main" val="0"/>
              </a:ext>
            </a:extLst>
          </a:blip>
          <a:srcRect l="2674" r="9901"/>
          <a:stretch/>
        </p:blipFill>
        <p:spPr bwMode="white">
          <a:xfrm>
            <a:off x="-1425" y="6256181"/>
            <a:ext cx="12188952" cy="463209"/>
          </a:xfrm>
          <a:prstGeom prst="rect">
            <a:avLst/>
          </a:prstGeom>
          <a:noFill/>
          <a:ln>
            <a:noFill/>
          </a:ln>
        </p:spPr>
      </p:pic>
      <p:pic>
        <p:nvPicPr>
          <p:cNvPr id="10" name="water1"/>
          <p:cNvPicPr>
            <a:picLocks noChangeAspect="1"/>
          </p:cNvPicPr>
          <p:nvPr/>
        </p:nvPicPr>
        <p:blipFill rotWithShape="1">
          <a:blip r:embed="rId14" cstate="print">
            <a:duotone>
              <a:schemeClr val="accent2">
                <a:shade val="45000"/>
                <a:satMod val="135000"/>
              </a:schemeClr>
              <a:prstClr val="white"/>
            </a:duotone>
            <a:extLst>
              <a:ext uri="{28A0092B-C50C-407E-A947-70E740481C1C}">
                <a14:useLocalDpi xmlns:a14="http://schemas.microsoft.com/office/drawing/2010/main" val="0"/>
              </a:ext>
            </a:extLst>
          </a:blip>
          <a:srcRect l="6218" r="6356"/>
          <a:stretch/>
        </p:blipFill>
        <p:spPr bwMode="gray">
          <a:xfrm flipH="1">
            <a:off x="-1425" y="5979395"/>
            <a:ext cx="12188952" cy="268288"/>
          </a:xfrm>
          <a:prstGeom prst="rect">
            <a:avLst/>
          </a:prstGeom>
          <a:noFill/>
          <a:ln>
            <a:noFill/>
          </a:ln>
        </p:spPr>
      </p:pic>
      <p:sp>
        <p:nvSpPr>
          <p:cNvPr id="2" name="Title Placeholder 1"/>
          <p:cNvSpPr>
            <a:spLocks noGrp="1"/>
          </p:cNvSpPr>
          <p:nvPr>
            <p:ph type="title"/>
          </p:nvPr>
        </p:nvSpPr>
        <p:spPr>
          <a:xfrm>
            <a:off x="1341120" y="265176"/>
            <a:ext cx="9509759" cy="1088136"/>
          </a:xfrm>
          <a:prstGeom prst="rect">
            <a:avLst/>
          </a:prstGeom>
        </p:spPr>
        <p:txBody>
          <a:bodyPr vert="horz" lIns="91440" tIns="45720" rIns="91440" bIns="45720" rtlCol="0" anchor="b">
            <a:normAutofit/>
          </a:bodyPr>
          <a:lstStyle/>
          <a:p>
            <a:r>
              <a:rPr lang="en-US"/>
              <a:t>Click to edit Master title style</a:t>
            </a:r>
            <a:endParaRPr/>
          </a:p>
        </p:txBody>
      </p:sp>
      <p:sp>
        <p:nvSpPr>
          <p:cNvPr id="3" name="Text Placeholder 2"/>
          <p:cNvSpPr>
            <a:spLocks noGrp="1"/>
          </p:cNvSpPr>
          <p:nvPr>
            <p:ph type="body" idx="1"/>
          </p:nvPr>
        </p:nvSpPr>
        <p:spPr>
          <a:xfrm>
            <a:off x="1341120" y="1572768"/>
            <a:ext cx="9509760" cy="4142232"/>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Footer Placeholder 4"/>
          <p:cNvSpPr>
            <a:spLocks noGrp="1"/>
          </p:cNvSpPr>
          <p:nvPr>
            <p:ph type="ftr" sz="quarter" idx="3"/>
          </p:nvPr>
        </p:nvSpPr>
        <p:spPr>
          <a:xfrm>
            <a:off x="1341120" y="6601968"/>
            <a:ext cx="7159752" cy="237744"/>
          </a:xfrm>
          <a:prstGeom prst="rect">
            <a:avLst/>
          </a:prstGeom>
        </p:spPr>
        <p:txBody>
          <a:bodyPr vert="horz" lIns="91440" tIns="45720" rIns="91440" bIns="45720" rtlCol="0" anchor="ctr"/>
          <a:lstStyle>
            <a:lvl1pPr algn="l">
              <a:defRPr sz="1100" cap="all" baseline="0">
                <a:solidFill>
                  <a:schemeClr val="tx1"/>
                </a:solidFill>
              </a:defRPr>
            </a:lvl1pPr>
          </a:lstStyle>
          <a:p>
            <a:r>
              <a:rPr lang="en-US"/>
              <a:t>Add a footer</a:t>
            </a:r>
            <a:endParaRPr lang="en-US" dirty="0"/>
          </a:p>
        </p:txBody>
      </p:sp>
      <p:sp>
        <p:nvSpPr>
          <p:cNvPr id="4" name="Date Placeholder 3"/>
          <p:cNvSpPr>
            <a:spLocks noGrp="1"/>
          </p:cNvSpPr>
          <p:nvPr>
            <p:ph type="dt" sz="half" idx="2"/>
          </p:nvPr>
        </p:nvSpPr>
        <p:spPr>
          <a:xfrm>
            <a:off x="8875776" y="6601968"/>
            <a:ext cx="960120" cy="237744"/>
          </a:xfrm>
          <a:prstGeom prst="rect">
            <a:avLst/>
          </a:prstGeom>
        </p:spPr>
        <p:txBody>
          <a:bodyPr vert="horz" lIns="91440" tIns="45720" rIns="91440" bIns="45720" rtlCol="0" anchor="ctr"/>
          <a:lstStyle>
            <a:lvl1pPr algn="l">
              <a:defRPr sz="1100" cap="all" baseline="0">
                <a:solidFill>
                  <a:schemeClr val="tx1"/>
                </a:solidFill>
              </a:defRPr>
            </a:lvl1pPr>
          </a:lstStyle>
          <a:p>
            <a:fld id="{5586B75A-687E-405C-8A0B-8D00578BA2C3}" type="datetime1">
              <a:rPr lang="en-US" smtClean="0"/>
              <a:pPr/>
              <a:t>2/13/2026</a:t>
            </a:fld>
            <a:endParaRPr lang="en-US"/>
          </a:p>
        </p:txBody>
      </p:sp>
      <p:sp>
        <p:nvSpPr>
          <p:cNvPr id="6" name="Slide Number Placeholder 5"/>
          <p:cNvSpPr>
            <a:spLocks noGrp="1"/>
          </p:cNvSpPr>
          <p:nvPr>
            <p:ph type="sldNum" sz="quarter" idx="4"/>
          </p:nvPr>
        </p:nvSpPr>
        <p:spPr>
          <a:xfrm>
            <a:off x="10210800" y="6601968"/>
            <a:ext cx="640080" cy="237744"/>
          </a:xfrm>
          <a:prstGeom prst="rect">
            <a:avLst/>
          </a:prstGeom>
        </p:spPr>
        <p:txBody>
          <a:bodyPr vert="horz" lIns="91440" tIns="45720" rIns="91440" bIns="45720" rtlCol="0" anchor="ctr"/>
          <a:lstStyle>
            <a:lvl1pPr algn="r">
              <a:defRPr sz="1100" cap="all" baseline="0">
                <a:solidFill>
                  <a:schemeClr val="tx1"/>
                </a:solidFill>
              </a:defRPr>
            </a:lvl1pPr>
          </a:lstStyle>
          <a:p>
            <a:fld id="{4FAB73BC-B049-4115-A692-8D63A059BFB8}" type="slidenum">
              <a:rPr lang="en-US" smtClean="0"/>
              <a:pPr/>
              <a:t>‹#›</a:t>
            </a:fld>
            <a:endParaRPr lang="en-US"/>
          </a:p>
        </p:txBody>
      </p:sp>
    </p:spTree>
    <p:extLst>
      <p:ext uri="{BB962C8B-B14F-4D97-AF65-F5344CB8AC3E}">
        <p14:creationId xmlns:p14="http://schemas.microsoft.com/office/powerpoint/2010/main" val="3877551537"/>
      </p:ext>
    </p:extLst>
  </p:cSld>
  <p:clrMap bg1="lt1" tx1="dk1" bg2="lt2" tx2="dk2" accent1="accent1" accent2="accent2" accent3="accent3" accent4="accent4" accent5="accent5" accent6="accent6" hlink="hlink" folHlink="folHlink"/>
  <p:sldLayoutIdLst>
    <p:sldLayoutId id="2147483841" r:id="rId1"/>
    <p:sldLayoutId id="2147483842" r:id="rId2"/>
    <p:sldLayoutId id="2147483843" r:id="rId3"/>
    <p:sldLayoutId id="2147483844" r:id="rId4"/>
    <p:sldLayoutId id="2147483845" r:id="rId5"/>
    <p:sldLayoutId id="2147483846" r:id="rId6"/>
    <p:sldLayoutId id="2147483847" r:id="rId7"/>
    <p:sldLayoutId id="2147483848" r:id="rId8"/>
    <p:sldLayoutId id="2147483849" r:id="rId9"/>
    <p:sldLayoutId id="2147483850" r:id="rId10"/>
    <p:sldLayoutId id="2147483851" r:id="rId11"/>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txStyles>
    <p:titleStyle>
      <a:lvl1pPr algn="l" defTabSz="914400" rtl="0" eaLnBrk="1" latinLnBrk="0" hangingPunct="1">
        <a:lnSpc>
          <a:spcPct val="90000"/>
        </a:lnSpc>
        <a:spcBef>
          <a:spcPct val="0"/>
        </a:spcBef>
        <a:buNone/>
        <a:defRPr sz="3800" kern="1200">
          <a:solidFill>
            <a:schemeClr val="accent2">
              <a:lumMod val="50000"/>
            </a:schemeClr>
          </a:solidFill>
          <a:latin typeface="+mj-lt"/>
          <a:ea typeface="+mj-ea"/>
          <a:cs typeface="+mj-cs"/>
        </a:defRPr>
      </a:lvl1pPr>
    </p:titleStyle>
    <p:bodyStyle>
      <a:lvl1pPr marL="274320" indent="-228600" algn="l" defTabSz="914400" rtl="0" eaLnBrk="1" latinLnBrk="0" hangingPunct="1">
        <a:lnSpc>
          <a:spcPct val="90000"/>
        </a:lnSpc>
        <a:spcBef>
          <a:spcPts val="1800"/>
        </a:spcBef>
        <a:buSzPct val="100000"/>
        <a:buFont typeface="Arial" pitchFamily="34" charset="0"/>
        <a:buChar char="•"/>
        <a:defRPr sz="2000" kern="1200">
          <a:solidFill>
            <a:schemeClr val="accent2">
              <a:lumMod val="50000"/>
            </a:schemeClr>
          </a:solidFill>
          <a:latin typeface="+mn-lt"/>
          <a:ea typeface="+mn-ea"/>
          <a:cs typeface="+mn-cs"/>
        </a:defRPr>
      </a:lvl1pPr>
      <a:lvl2pPr marL="548640" indent="-228600" algn="l" defTabSz="914400" rtl="0" eaLnBrk="1" latinLnBrk="0" hangingPunct="1">
        <a:lnSpc>
          <a:spcPct val="90000"/>
        </a:lnSpc>
        <a:spcBef>
          <a:spcPts val="1000"/>
        </a:spcBef>
        <a:buSzPct val="100000"/>
        <a:buFont typeface="Arial" pitchFamily="34" charset="0"/>
        <a:buChar char="•"/>
        <a:defRPr sz="1800" kern="1200">
          <a:solidFill>
            <a:schemeClr val="accent2">
              <a:lumMod val="50000"/>
            </a:schemeClr>
          </a:solidFill>
          <a:latin typeface="+mn-lt"/>
          <a:ea typeface="+mn-ea"/>
          <a:cs typeface="+mn-cs"/>
        </a:defRPr>
      </a:lvl2pPr>
      <a:lvl3pPr marL="822960" indent="-228600" algn="l" defTabSz="914400" rtl="0" eaLnBrk="1" latinLnBrk="0" hangingPunct="1">
        <a:lnSpc>
          <a:spcPct val="90000"/>
        </a:lnSpc>
        <a:spcBef>
          <a:spcPts val="800"/>
        </a:spcBef>
        <a:buSzPct val="100000"/>
        <a:buFont typeface="Arial" pitchFamily="34" charset="0"/>
        <a:buChar char="•"/>
        <a:defRPr sz="1600" kern="1200">
          <a:solidFill>
            <a:schemeClr val="accent2">
              <a:lumMod val="50000"/>
            </a:schemeClr>
          </a:solidFill>
          <a:latin typeface="+mn-lt"/>
          <a:ea typeface="+mn-ea"/>
          <a:cs typeface="+mn-cs"/>
        </a:defRPr>
      </a:lvl3pPr>
      <a:lvl4pPr marL="109728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4pPr>
      <a:lvl5pPr marL="137160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5pPr>
      <a:lvl6pPr marL="164592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6pPr>
      <a:lvl7pPr marL="192024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7pPr>
      <a:lvl8pPr marL="2194560" indent="-228600" algn="l" defTabSz="914400" rtl="0" eaLnBrk="1" latinLnBrk="0" hangingPunct="1">
        <a:lnSpc>
          <a:spcPct val="90000"/>
        </a:lnSpc>
        <a:spcBef>
          <a:spcPts val="800"/>
        </a:spcBef>
        <a:buSzPct val="100000"/>
        <a:buFont typeface="Arial" pitchFamily="34" charset="0"/>
        <a:buChar char="•"/>
        <a:defRPr sz="1400" kern="1200">
          <a:solidFill>
            <a:schemeClr val="accent2">
              <a:lumMod val="50000"/>
            </a:schemeClr>
          </a:solidFill>
          <a:latin typeface="+mn-lt"/>
          <a:ea typeface="+mn-ea"/>
          <a:cs typeface="+mn-cs"/>
        </a:defRPr>
      </a:lvl8pPr>
      <a:lvl9pPr marL="2240280" indent="0" algn="l" defTabSz="914400" rtl="0" eaLnBrk="1" latinLnBrk="0" hangingPunct="1">
        <a:lnSpc>
          <a:spcPct val="90000"/>
        </a:lnSpc>
        <a:spcBef>
          <a:spcPts val="800"/>
        </a:spcBef>
        <a:buSzPct val="100000"/>
        <a:buFont typeface="Arial" pitchFamily="34" charset="0"/>
        <a:buNone/>
        <a:defRPr sz="1400" kern="1200">
          <a:solidFill>
            <a:schemeClr val="accent2">
              <a:lumMod val="50000"/>
            </a:schemeClr>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8" Type="http://schemas.openxmlformats.org/officeDocument/2006/relationships/hyperlink" Target="https://loop.frontiersin.org/people/2579298" TargetMode="External"/><Relationship Id="rId3" Type="http://schemas.openxmlformats.org/officeDocument/2006/relationships/hyperlink" Target="https://onlinelibrary.wiley.com/authored-by/Stensrud/Eivind" TargetMode="External"/><Relationship Id="rId7" Type="http://schemas.openxmlformats.org/officeDocument/2006/relationships/hyperlink" Target="https://loop.frontiersin.org/people/2694168" TargetMode="External"/><Relationship Id="rId12" Type="http://schemas.openxmlformats.org/officeDocument/2006/relationships/hyperlink" Target="https://loop.frontiersin.org/people/467698" TargetMode="External"/><Relationship Id="rId2" Type="http://schemas.openxmlformats.org/officeDocument/2006/relationships/hyperlink" Target="https://onlinelibrary.wiley.com/authored-by/Kvalheim/Lone" TargetMode="External"/><Relationship Id="rId1" Type="http://schemas.openxmlformats.org/officeDocument/2006/relationships/slideLayout" Target="../slideLayouts/slideLayout2.xml"/><Relationship Id="rId6" Type="http://schemas.openxmlformats.org/officeDocument/2006/relationships/hyperlink" Target="https://onlinelibrary.wiley.com/authored-by/Eiler/Alexander" TargetMode="External"/><Relationship Id="rId11" Type="http://schemas.openxmlformats.org/officeDocument/2006/relationships/hyperlink" Target="https://loop.frontiersin.org/people/713593" TargetMode="External"/><Relationship Id="rId5" Type="http://schemas.openxmlformats.org/officeDocument/2006/relationships/hyperlink" Target="https://onlinelibrary.wiley.com/authored-by/Hyv%C3%A4rinen/Olli" TargetMode="External"/><Relationship Id="rId10" Type="http://schemas.openxmlformats.org/officeDocument/2006/relationships/hyperlink" Target="https://loop.frontiersin.org/people/881136" TargetMode="External"/><Relationship Id="rId4" Type="http://schemas.openxmlformats.org/officeDocument/2006/relationships/hyperlink" Target="https://onlinelibrary.wiley.com/authored-by/Knutsen/Halvor" TargetMode="External"/><Relationship Id="rId9" Type="http://schemas.openxmlformats.org/officeDocument/2006/relationships/hyperlink" Target="https://loop.frontiersin.org/people/914498" TargetMode="Externa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hyperlink" Target="https://obis.org/" TargetMode="External"/><Relationship Id="rId2" Type="http://schemas.openxmlformats.org/officeDocument/2006/relationships/hyperlink" Target="https://www.cmlre.gov.in/" TargetMode="External"/><Relationship Id="rId1" Type="http://schemas.openxmlformats.org/officeDocument/2006/relationships/slideLayout" Target="../slideLayouts/slideLayout2.xml"/><Relationship Id="rId6" Type="http://schemas.openxmlformats.org/officeDocument/2006/relationships/hyperlink" Target="https://doi.org/10.1093/icesjms/fsad083" TargetMode="External"/><Relationship Id="rId5" Type="http://schemas.openxmlformats.org/officeDocument/2006/relationships/hyperlink" Target="https://moes.gov.in/" TargetMode="External"/><Relationship Id="rId4" Type="http://schemas.openxmlformats.org/officeDocument/2006/relationships/hyperlink" Target="https://www.gbif.org/" TargetMode="External"/></Relationships>
</file>

<file path=ppt/slides/_rels/slide19.xml.rels><?xml version="1.0" encoding="UTF-8" standalone="yes"?>
<Relationships xmlns="http://schemas.openxmlformats.org/package/2006/relationships"><Relationship Id="rId3" Type="http://schemas.openxmlformats.org/officeDocument/2006/relationships/hyperlink" Target="https://doi.org/10.3389/fmars.2024.1404104" TargetMode="External"/><Relationship Id="rId2" Type="http://schemas.openxmlformats.org/officeDocument/2006/relationships/hyperlink" Target="https://doi.org/10.1002/edn3.584" TargetMode="External"/><Relationship Id="rId1" Type="http://schemas.openxmlformats.org/officeDocument/2006/relationships/slideLayout" Target="../slideLayouts/slideLayout2.xml"/><Relationship Id="rId5" Type="http://schemas.openxmlformats.org/officeDocument/2006/relationships/hyperlink" Target="https://doi.org/10.3389/fmars.2022.918104" TargetMode="External"/><Relationship Id="rId4" Type="http://schemas.openxmlformats.org/officeDocument/2006/relationships/hyperlink" Target="https://doi.org/10.5194/isprs-archives-XLVIII-4-W7-2023-223-2023" TargetMode="Externa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293813" y="2753361"/>
            <a:ext cx="9601252" cy="1960879"/>
          </a:xfrm>
        </p:spPr>
        <p:txBody>
          <a:bodyPr anchor="b">
            <a:normAutofit/>
          </a:bodyPr>
          <a:lstStyle/>
          <a:p>
            <a:r>
              <a:rPr lang="en-US" sz="4400" dirty="0"/>
              <a:t> An Intelligent Data Integration Framework for Marine Biodiversity Research</a:t>
            </a:r>
          </a:p>
        </p:txBody>
      </p:sp>
      <p:sp>
        <p:nvSpPr>
          <p:cNvPr id="3" name="Subtitle 2"/>
          <p:cNvSpPr>
            <a:spLocks noGrp="1"/>
          </p:cNvSpPr>
          <p:nvPr>
            <p:ph type="body" idx="1"/>
          </p:nvPr>
        </p:nvSpPr>
        <p:spPr>
          <a:xfrm>
            <a:off x="182880" y="5222240"/>
            <a:ext cx="4091915" cy="1391920"/>
          </a:xfrm>
        </p:spPr>
        <p:txBody>
          <a:bodyPr anchor="t">
            <a:normAutofit fontScale="92500" lnSpcReduction="10000"/>
          </a:bodyPr>
          <a:lstStyle/>
          <a:p>
            <a:r>
              <a:rPr lang="en-IN" sz="2800" dirty="0"/>
              <a:t>Submitted By:</a:t>
            </a:r>
            <a:br>
              <a:rPr lang="en-IN" sz="2800" dirty="0"/>
            </a:br>
            <a:r>
              <a:rPr lang="en-IN" sz="2800" dirty="0"/>
              <a:t>SRISHTI PILANIA</a:t>
            </a:r>
          </a:p>
          <a:p>
            <a:r>
              <a:rPr lang="en-IN" sz="2800" dirty="0"/>
              <a:t>2427030095</a:t>
            </a:r>
          </a:p>
          <a:p>
            <a:r>
              <a:rPr lang="en-IN" sz="2800" dirty="0"/>
              <a:t>Section b</a:t>
            </a:r>
          </a:p>
          <a:p>
            <a:pPr>
              <a:spcAft>
                <a:spcPts val="600"/>
              </a:spcAft>
            </a:pPr>
            <a:endParaRPr lang="en-US" sz="2800" dirty="0"/>
          </a:p>
        </p:txBody>
      </p:sp>
      <p:pic>
        <p:nvPicPr>
          <p:cNvPr id="4" name="Picture 3" descr="A black and white text&#10;&#10;AI-generated content may be incorrect.">
            <a:extLst>
              <a:ext uri="{FF2B5EF4-FFF2-40B4-BE49-F238E27FC236}">
                <a16:creationId xmlns:a16="http://schemas.microsoft.com/office/drawing/2014/main" id="{69867282-AF13-FA98-2E58-11E4EF036C24}"/>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100756" y="36039"/>
            <a:ext cx="4174039" cy="1222745"/>
          </a:xfrm>
          <a:prstGeom prst="rect">
            <a:avLst/>
          </a:prstGeom>
        </p:spPr>
      </p:pic>
      <p:sp>
        <p:nvSpPr>
          <p:cNvPr id="5" name="TextBox 4">
            <a:extLst>
              <a:ext uri="{FF2B5EF4-FFF2-40B4-BE49-F238E27FC236}">
                <a16:creationId xmlns:a16="http://schemas.microsoft.com/office/drawing/2014/main" id="{F3D17E10-7438-7594-8ACB-89BB41C48046}"/>
              </a:ext>
            </a:extLst>
          </p:cNvPr>
          <p:cNvSpPr txBox="1"/>
          <p:nvPr/>
        </p:nvSpPr>
        <p:spPr>
          <a:xfrm>
            <a:off x="1416205" y="1258784"/>
            <a:ext cx="9378175" cy="1133067"/>
          </a:xfrm>
          <a:prstGeom prst="rect">
            <a:avLst/>
          </a:prstGeom>
          <a:noFill/>
        </p:spPr>
        <p:txBody>
          <a:bodyPr wrap="square" rtlCol="0">
            <a:spAutoFit/>
          </a:bodyPr>
          <a:lstStyle/>
          <a:p>
            <a:pPr algn="ctr">
              <a:lnSpc>
                <a:spcPct val="150000"/>
              </a:lnSpc>
            </a:pPr>
            <a:r>
              <a:rPr lang="en-IN" sz="2400" b="1" dirty="0"/>
              <a:t>School of Computer Science and Engineering</a:t>
            </a:r>
          </a:p>
          <a:p>
            <a:pPr algn="ctr">
              <a:lnSpc>
                <a:spcPct val="150000"/>
              </a:lnSpc>
            </a:pPr>
            <a:r>
              <a:rPr lang="en-IN" sz="2400" b="1" dirty="0"/>
              <a:t>Department of Computer Science and Engineering</a:t>
            </a:r>
            <a:endParaRPr lang="en-IN" sz="2400" dirty="0"/>
          </a:p>
        </p:txBody>
      </p:sp>
      <p:sp>
        <p:nvSpPr>
          <p:cNvPr id="6" name="TextBox 5">
            <a:extLst>
              <a:ext uri="{FF2B5EF4-FFF2-40B4-BE49-F238E27FC236}">
                <a16:creationId xmlns:a16="http://schemas.microsoft.com/office/drawing/2014/main" id="{6F4383F0-0FF6-FEE8-92B4-93CB6D4EB32A}"/>
              </a:ext>
            </a:extLst>
          </p:cNvPr>
          <p:cNvSpPr txBox="1"/>
          <p:nvPr/>
        </p:nvSpPr>
        <p:spPr>
          <a:xfrm>
            <a:off x="8788400" y="5313680"/>
            <a:ext cx="3220720" cy="1384995"/>
          </a:xfrm>
          <a:prstGeom prst="rect">
            <a:avLst/>
          </a:prstGeom>
          <a:noFill/>
        </p:spPr>
        <p:txBody>
          <a:bodyPr wrap="square" rtlCol="0">
            <a:spAutoFit/>
          </a:bodyPr>
          <a:lstStyle/>
          <a:p>
            <a:r>
              <a:rPr lang="en-IN" sz="2800" dirty="0">
                <a:solidFill>
                  <a:schemeClr val="accent2">
                    <a:lumMod val="75000"/>
                  </a:schemeClr>
                </a:solidFill>
              </a:rPr>
              <a:t>Supervised By:</a:t>
            </a:r>
          </a:p>
          <a:p>
            <a:r>
              <a:rPr lang="en-IN" sz="2800" dirty="0">
                <a:solidFill>
                  <a:schemeClr val="accent2">
                    <a:lumMod val="75000"/>
                  </a:schemeClr>
                </a:solidFill>
              </a:rPr>
              <a:t>MRS BABITA TIWARI</a:t>
            </a:r>
          </a:p>
        </p:txBody>
      </p:sp>
    </p:spTree>
    <p:extLst>
      <p:ext uri="{BB962C8B-B14F-4D97-AF65-F5344CB8AC3E}">
        <p14:creationId xmlns:p14="http://schemas.microsoft.com/office/powerpoint/2010/main" val="1503902909"/>
      </p:ext>
    </p:extLst>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2000">
        <p159:morph option="byObject"/>
      </p:transition>
    </mc:Choice>
    <mc:Fallback xmlns="">
      <p:transition spd="slow">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8C8E0B-71C3-A860-7738-ACF7CAAE2283}"/>
              </a:ext>
            </a:extLst>
          </p:cNvPr>
          <p:cNvSpPr>
            <a:spLocks noGrp="1"/>
          </p:cNvSpPr>
          <p:nvPr>
            <p:ph type="title"/>
          </p:nvPr>
        </p:nvSpPr>
        <p:spPr/>
        <p:txBody>
          <a:bodyPr>
            <a:normAutofit/>
          </a:bodyPr>
          <a:lstStyle/>
          <a:p>
            <a:r>
              <a:rPr lang="en-IN" sz="4800" dirty="0">
                <a:solidFill>
                  <a:schemeClr val="tx1">
                    <a:lumMod val="95000"/>
                    <a:lumOff val="5000"/>
                  </a:schemeClr>
                </a:solidFill>
              </a:rPr>
              <a:t>OUTLINE</a:t>
            </a:r>
          </a:p>
        </p:txBody>
      </p:sp>
      <p:sp>
        <p:nvSpPr>
          <p:cNvPr id="3" name="Content Placeholder 2">
            <a:extLst>
              <a:ext uri="{FF2B5EF4-FFF2-40B4-BE49-F238E27FC236}">
                <a16:creationId xmlns:a16="http://schemas.microsoft.com/office/drawing/2014/main" id="{06A27B8B-A1C3-4081-6302-AE23D0626DC0}"/>
              </a:ext>
            </a:extLst>
          </p:cNvPr>
          <p:cNvSpPr>
            <a:spLocks noGrp="1"/>
          </p:cNvSpPr>
          <p:nvPr>
            <p:ph idx="1"/>
          </p:nvPr>
        </p:nvSpPr>
        <p:spPr>
          <a:xfrm>
            <a:off x="1341120" y="1727200"/>
            <a:ext cx="9509760" cy="3987800"/>
          </a:xfrm>
        </p:spPr>
        <p:txBody>
          <a:bodyPr>
            <a:normAutofit fontScale="77500" lnSpcReduction="20000"/>
          </a:bodyPr>
          <a:lstStyle/>
          <a:p>
            <a:pPr>
              <a:buFont typeface="Wingdings" panose="05000000000000000000" pitchFamily="2" charset="2"/>
              <a:buChar char="v"/>
            </a:pPr>
            <a:r>
              <a:rPr lang="en-IN" sz="3200" dirty="0"/>
              <a:t>INTRODUCTION</a:t>
            </a:r>
          </a:p>
          <a:p>
            <a:pPr>
              <a:buFont typeface="Wingdings" panose="05000000000000000000" pitchFamily="2" charset="2"/>
              <a:buChar char="v"/>
            </a:pPr>
            <a:r>
              <a:rPr lang="en-IN" sz="3200" dirty="0"/>
              <a:t>LITERATURE REVIEW</a:t>
            </a:r>
          </a:p>
          <a:p>
            <a:pPr>
              <a:buFont typeface="Wingdings" panose="05000000000000000000" pitchFamily="2" charset="2"/>
              <a:buChar char="v"/>
            </a:pPr>
            <a:r>
              <a:rPr lang="en-IN" sz="3200" dirty="0"/>
              <a:t>RESEARCH GAP</a:t>
            </a:r>
          </a:p>
          <a:p>
            <a:pPr>
              <a:buFont typeface="Wingdings" panose="05000000000000000000" pitchFamily="2" charset="2"/>
              <a:buChar char="v"/>
            </a:pPr>
            <a:r>
              <a:rPr lang="en-IN" sz="3200" dirty="0"/>
              <a:t>PROBLEM STATEMENT</a:t>
            </a:r>
          </a:p>
          <a:p>
            <a:pPr>
              <a:buFont typeface="Wingdings" panose="05000000000000000000" pitchFamily="2" charset="2"/>
              <a:buChar char="v"/>
            </a:pPr>
            <a:r>
              <a:rPr lang="en-IN" sz="3200" dirty="0"/>
              <a:t>PROPOSED SOLUTIONS</a:t>
            </a:r>
          </a:p>
          <a:p>
            <a:pPr>
              <a:buFont typeface="Wingdings" panose="05000000000000000000" pitchFamily="2" charset="2"/>
              <a:buChar char="v"/>
            </a:pPr>
            <a:r>
              <a:rPr lang="en-IN" sz="3200" dirty="0"/>
              <a:t>METHODOLOGY</a:t>
            </a:r>
          </a:p>
          <a:p>
            <a:pPr>
              <a:buFont typeface="Wingdings" panose="05000000000000000000" pitchFamily="2" charset="2"/>
              <a:buChar char="v"/>
            </a:pPr>
            <a:r>
              <a:rPr lang="en-IN" sz="3200" dirty="0"/>
              <a:t>OBJECTIVES</a:t>
            </a:r>
          </a:p>
          <a:p>
            <a:pPr>
              <a:buFont typeface="Wingdings" panose="05000000000000000000" pitchFamily="2" charset="2"/>
              <a:buChar char="v"/>
            </a:pPr>
            <a:r>
              <a:rPr lang="en-IN" sz="3200" dirty="0"/>
              <a:t>REFERENCES</a:t>
            </a:r>
          </a:p>
        </p:txBody>
      </p:sp>
    </p:spTree>
    <p:extLst>
      <p:ext uri="{BB962C8B-B14F-4D97-AF65-F5344CB8AC3E}">
        <p14:creationId xmlns:p14="http://schemas.microsoft.com/office/powerpoint/2010/main" val="42488861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CB6F87-295F-3C7B-7BF6-DD186EF1B855}"/>
              </a:ext>
            </a:extLst>
          </p:cNvPr>
          <p:cNvSpPr>
            <a:spLocks noGrp="1"/>
          </p:cNvSpPr>
          <p:nvPr>
            <p:ph type="title"/>
          </p:nvPr>
        </p:nvSpPr>
        <p:spPr/>
        <p:txBody>
          <a:bodyPr>
            <a:normAutofit fontScale="90000"/>
          </a:bodyPr>
          <a:lstStyle/>
          <a:p>
            <a:pPr algn="ctr"/>
            <a:r>
              <a:rPr lang="en-US" b="1" i="1" dirty="0">
                <a:solidFill>
                  <a:schemeClr val="tx1">
                    <a:lumMod val="95000"/>
                    <a:lumOff val="5000"/>
                  </a:schemeClr>
                </a:solidFill>
              </a:rPr>
              <a:t>CMLRE (Centre for Marine Living Resources and Ecology)</a:t>
            </a:r>
            <a:endParaRPr lang="en-IN" b="1" i="1" dirty="0">
              <a:solidFill>
                <a:schemeClr val="tx1">
                  <a:lumMod val="95000"/>
                  <a:lumOff val="5000"/>
                </a:schemeClr>
              </a:solidFill>
            </a:endParaRPr>
          </a:p>
        </p:txBody>
      </p:sp>
      <p:sp>
        <p:nvSpPr>
          <p:cNvPr id="6" name="Content Placeholder 5">
            <a:extLst>
              <a:ext uri="{FF2B5EF4-FFF2-40B4-BE49-F238E27FC236}">
                <a16:creationId xmlns:a16="http://schemas.microsoft.com/office/drawing/2014/main" id="{DA35B7F9-1D46-4CC1-0735-230464CD5661}"/>
              </a:ext>
            </a:extLst>
          </p:cNvPr>
          <p:cNvSpPr>
            <a:spLocks noGrp="1"/>
          </p:cNvSpPr>
          <p:nvPr>
            <p:ph idx="1"/>
          </p:nvPr>
        </p:nvSpPr>
        <p:spPr>
          <a:xfrm>
            <a:off x="325120" y="1574800"/>
            <a:ext cx="11744960" cy="4653280"/>
          </a:xfrm>
        </p:spPr>
        <p:txBody>
          <a:bodyPr>
            <a:noAutofit/>
          </a:bodyPr>
          <a:lstStyle/>
          <a:p>
            <a:pPr>
              <a:buFont typeface="Wingdings" panose="05000000000000000000" pitchFamily="2" charset="2"/>
              <a:buChar char="Ø"/>
            </a:pPr>
            <a:r>
              <a:rPr lang="en-US" sz="2400" dirty="0"/>
              <a:t>CMLRE located in Kochi operates under the Ministry of Earth Sciences (</a:t>
            </a:r>
            <a:r>
              <a:rPr lang="en-US" sz="2400" dirty="0" err="1"/>
              <a:t>MoES</a:t>
            </a:r>
            <a:r>
              <a:rPr lang="en-US" sz="2400" dirty="0"/>
              <a:t>), Government of India.</a:t>
            </a:r>
          </a:p>
          <a:p>
            <a:pPr>
              <a:buFont typeface="Wingdings" panose="05000000000000000000" pitchFamily="2" charset="2"/>
              <a:buChar char="Ø"/>
            </a:pPr>
            <a:r>
              <a:rPr lang="en-US" sz="2400" dirty="0"/>
              <a:t>It plays a key role in marine ecosystem research, ocean development, and resource management.</a:t>
            </a:r>
          </a:p>
          <a:p>
            <a:pPr>
              <a:buFont typeface="Wingdings" panose="05000000000000000000" pitchFamily="2" charset="2"/>
              <a:buChar char="Ø"/>
            </a:pPr>
            <a:r>
              <a:rPr lang="en-US" sz="2400" dirty="0"/>
              <a:t>Its focus is on mapping, assessing, and managing India’s marine living resources in the Exclusive Economic Zone (EEZ).</a:t>
            </a:r>
          </a:p>
          <a:p>
            <a:pPr>
              <a:buFont typeface="Wingdings" panose="05000000000000000000" pitchFamily="2" charset="2"/>
              <a:buChar char="Ø"/>
            </a:pPr>
            <a:r>
              <a:rPr lang="en-US" sz="2400" dirty="0"/>
              <a:t> Ecosystem-based research is also conducted through physical, chemical, and biological oceanography programs.</a:t>
            </a:r>
          </a:p>
          <a:p>
            <a:pPr>
              <a:buFont typeface="Wingdings" panose="05000000000000000000" pitchFamily="2" charset="2"/>
              <a:buChar char="Ø"/>
            </a:pPr>
            <a:r>
              <a:rPr lang="en-US" sz="2400" dirty="0"/>
              <a:t>Data-driven decision-making is promoted for biodiversity conservation and to maintain sustainable fisheries.</a:t>
            </a:r>
            <a:endParaRPr lang="en-IN" sz="2400" dirty="0"/>
          </a:p>
        </p:txBody>
      </p:sp>
    </p:spTree>
    <p:extLst>
      <p:ext uri="{BB962C8B-B14F-4D97-AF65-F5344CB8AC3E}">
        <p14:creationId xmlns:p14="http://schemas.microsoft.com/office/powerpoint/2010/main" val="4763755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C1AAE3D-7C8E-806A-8349-F820A1A16C7C}"/>
              </a:ext>
            </a:extLst>
          </p:cNvPr>
          <p:cNvSpPr>
            <a:spLocks noGrp="1"/>
          </p:cNvSpPr>
          <p:nvPr>
            <p:ph type="title"/>
          </p:nvPr>
        </p:nvSpPr>
        <p:spPr>
          <a:xfrm>
            <a:off x="1341120" y="265176"/>
            <a:ext cx="9509759" cy="791464"/>
          </a:xfrm>
        </p:spPr>
        <p:txBody>
          <a:bodyPr>
            <a:normAutofit/>
          </a:bodyPr>
          <a:lstStyle/>
          <a:p>
            <a:pPr algn="ctr"/>
            <a:r>
              <a:rPr lang="en-US" b="1" i="1" dirty="0">
                <a:solidFill>
                  <a:schemeClr val="tx1">
                    <a:lumMod val="95000"/>
                    <a:lumOff val="5000"/>
                  </a:schemeClr>
                </a:solidFill>
              </a:rPr>
              <a:t>Exi</a:t>
            </a:r>
            <a:r>
              <a:rPr lang="en-US" sz="4400" b="1" i="1" dirty="0">
                <a:solidFill>
                  <a:schemeClr val="tx1">
                    <a:lumMod val="95000"/>
                    <a:lumOff val="5000"/>
                  </a:schemeClr>
                </a:solidFill>
              </a:rPr>
              <a:t>st</a:t>
            </a:r>
            <a:r>
              <a:rPr lang="en-US" b="1" i="1" dirty="0">
                <a:solidFill>
                  <a:schemeClr val="tx1">
                    <a:lumMod val="95000"/>
                    <a:lumOff val="5000"/>
                  </a:schemeClr>
                </a:solidFill>
              </a:rPr>
              <a:t>ing Data Systems &amp; Limitations</a:t>
            </a:r>
            <a:endParaRPr lang="en-IN" b="1" i="1" dirty="0">
              <a:solidFill>
                <a:schemeClr val="tx1">
                  <a:lumMod val="95000"/>
                  <a:lumOff val="5000"/>
                </a:schemeClr>
              </a:solidFill>
            </a:endParaRPr>
          </a:p>
        </p:txBody>
      </p:sp>
      <p:sp>
        <p:nvSpPr>
          <p:cNvPr id="3" name="Content Placeholder 2">
            <a:extLst>
              <a:ext uri="{FF2B5EF4-FFF2-40B4-BE49-F238E27FC236}">
                <a16:creationId xmlns:a16="http://schemas.microsoft.com/office/drawing/2014/main" id="{D44564BD-39C2-A55D-43CC-ADF843B6ACF8}"/>
              </a:ext>
            </a:extLst>
          </p:cNvPr>
          <p:cNvSpPr>
            <a:spLocks noGrp="1"/>
          </p:cNvSpPr>
          <p:nvPr>
            <p:ph idx="1"/>
          </p:nvPr>
        </p:nvSpPr>
        <p:spPr>
          <a:xfrm>
            <a:off x="386080" y="1209040"/>
            <a:ext cx="11673840" cy="4815840"/>
          </a:xfrm>
        </p:spPr>
        <p:txBody>
          <a:bodyPr>
            <a:noAutofit/>
          </a:bodyPr>
          <a:lstStyle/>
          <a:p>
            <a:pPr marL="45720" indent="0">
              <a:buNone/>
            </a:pPr>
            <a:r>
              <a:rPr lang="en-IN" sz="2200" b="1" dirty="0"/>
              <a:t>Ocean Biodiversity Information System (OBIS):[2]</a:t>
            </a:r>
            <a:br>
              <a:rPr lang="en-IN" sz="2200" dirty="0"/>
            </a:br>
            <a:r>
              <a:rPr lang="en-IN" sz="2200" dirty="0"/>
              <a:t>It is a global repository for marine species occurrence and the distribution data.</a:t>
            </a:r>
            <a:br>
              <a:rPr lang="en-IN" sz="2200" dirty="0"/>
            </a:br>
            <a:r>
              <a:rPr lang="en-IN" sz="2200" dirty="0"/>
              <a:t>➤ Focuses on </a:t>
            </a:r>
            <a:r>
              <a:rPr lang="en-IN" sz="2200" i="1" dirty="0"/>
              <a:t>biodiversity records however lacks multi-domain integration.</a:t>
            </a:r>
          </a:p>
          <a:p>
            <a:pPr marL="45720" indent="0">
              <a:buNone/>
            </a:pPr>
            <a:r>
              <a:rPr lang="en-IN" sz="2200" b="1" dirty="0"/>
              <a:t>Global Biodiversity Information Facility (GBIF):[3]</a:t>
            </a:r>
            <a:br>
              <a:rPr lang="en-IN" sz="2200" dirty="0"/>
            </a:br>
            <a:r>
              <a:rPr lang="en-IN" sz="2200" dirty="0"/>
              <a:t>It is an international network providing open access to biodiversity data.</a:t>
            </a:r>
            <a:br>
              <a:rPr lang="en-IN" sz="2200" dirty="0"/>
            </a:br>
            <a:r>
              <a:rPr lang="en-IN" sz="2200" dirty="0"/>
              <a:t>➤ Focuses on </a:t>
            </a:r>
            <a:r>
              <a:rPr lang="en-IN" sz="2200" i="1" dirty="0"/>
              <a:t>species data aggregation but provides minimal support for oceanographic parameters.</a:t>
            </a:r>
          </a:p>
          <a:p>
            <a:pPr marL="45720" indent="0">
              <a:buNone/>
            </a:pPr>
            <a:r>
              <a:rPr lang="en-IN" sz="2200" b="1" dirty="0"/>
              <a:t>CMLRE and CMFRI Databases (India):[1]</a:t>
            </a:r>
            <a:br>
              <a:rPr lang="en-IN" sz="2200" dirty="0"/>
            </a:br>
            <a:r>
              <a:rPr lang="en-IN" sz="2200" dirty="0"/>
              <a:t>Maintain datasets on fish abundance, species diversity, and ocean parameters.</a:t>
            </a:r>
            <a:br>
              <a:rPr lang="en-IN" sz="2200" dirty="0"/>
            </a:br>
            <a:r>
              <a:rPr lang="en-IN" sz="2200" dirty="0"/>
              <a:t>➤ Focuses only on </a:t>
            </a:r>
            <a:r>
              <a:rPr lang="en-IN" sz="2200" i="1" dirty="0"/>
              <a:t>Indian waters and is not interoperable across research domains.</a:t>
            </a:r>
          </a:p>
          <a:p>
            <a:pPr marL="45720" indent="0">
              <a:buNone/>
            </a:pPr>
            <a:r>
              <a:rPr lang="en-US" sz="2200" b="1" dirty="0"/>
              <a:t>Key Observation:</a:t>
            </a:r>
            <a:br>
              <a:rPr lang="en-US" sz="2200" dirty="0"/>
            </a:br>
            <a:r>
              <a:rPr lang="en-US" sz="2200" dirty="0"/>
              <a:t>Existing systems focus on individual data domains and not on holistic marine ecosystem integration.</a:t>
            </a:r>
            <a:endParaRPr lang="en-IN" sz="2200" dirty="0"/>
          </a:p>
        </p:txBody>
      </p:sp>
    </p:spTree>
    <p:extLst>
      <p:ext uri="{BB962C8B-B14F-4D97-AF65-F5344CB8AC3E}">
        <p14:creationId xmlns:p14="http://schemas.microsoft.com/office/powerpoint/2010/main" val="9659355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 name="Content Placeholder 10">
            <a:extLst>
              <a:ext uri="{FF2B5EF4-FFF2-40B4-BE49-F238E27FC236}">
                <a16:creationId xmlns:a16="http://schemas.microsoft.com/office/drawing/2014/main" id="{6C0EB495-ABBF-168D-75C8-929F09FC18A9}"/>
              </a:ext>
            </a:extLst>
          </p:cNvPr>
          <p:cNvGraphicFramePr>
            <a:graphicFrameLocks noGrp="1"/>
          </p:cNvGraphicFramePr>
          <p:nvPr>
            <p:ph idx="1"/>
            <p:extLst>
              <p:ext uri="{D42A27DB-BD31-4B8C-83A1-F6EECF244321}">
                <p14:modId xmlns:p14="http://schemas.microsoft.com/office/powerpoint/2010/main" val="3749990348"/>
              </p:ext>
            </p:extLst>
          </p:nvPr>
        </p:nvGraphicFramePr>
        <p:xfrm>
          <a:off x="0" y="0"/>
          <a:ext cx="12293600" cy="6858000"/>
        </p:xfrm>
        <a:graphic>
          <a:graphicData uri="http://schemas.openxmlformats.org/drawingml/2006/table">
            <a:tbl>
              <a:tblPr firstRow="1" bandRow="1">
                <a:tableStyleId>{5C22544A-7EE6-4342-B048-85BDC9FD1C3A}</a:tableStyleId>
              </a:tblPr>
              <a:tblGrid>
                <a:gridCol w="2048933">
                  <a:extLst>
                    <a:ext uri="{9D8B030D-6E8A-4147-A177-3AD203B41FA5}">
                      <a16:colId xmlns:a16="http://schemas.microsoft.com/office/drawing/2014/main" val="352240808"/>
                    </a:ext>
                  </a:extLst>
                </a:gridCol>
                <a:gridCol w="2048933">
                  <a:extLst>
                    <a:ext uri="{9D8B030D-6E8A-4147-A177-3AD203B41FA5}">
                      <a16:colId xmlns:a16="http://schemas.microsoft.com/office/drawing/2014/main" val="799881491"/>
                    </a:ext>
                  </a:extLst>
                </a:gridCol>
                <a:gridCol w="2018454">
                  <a:extLst>
                    <a:ext uri="{9D8B030D-6E8A-4147-A177-3AD203B41FA5}">
                      <a16:colId xmlns:a16="http://schemas.microsoft.com/office/drawing/2014/main" val="932698582"/>
                    </a:ext>
                  </a:extLst>
                </a:gridCol>
                <a:gridCol w="2079414">
                  <a:extLst>
                    <a:ext uri="{9D8B030D-6E8A-4147-A177-3AD203B41FA5}">
                      <a16:colId xmlns:a16="http://schemas.microsoft.com/office/drawing/2014/main" val="2425056554"/>
                    </a:ext>
                  </a:extLst>
                </a:gridCol>
                <a:gridCol w="2048933">
                  <a:extLst>
                    <a:ext uri="{9D8B030D-6E8A-4147-A177-3AD203B41FA5}">
                      <a16:colId xmlns:a16="http://schemas.microsoft.com/office/drawing/2014/main" val="3355873306"/>
                    </a:ext>
                  </a:extLst>
                </a:gridCol>
                <a:gridCol w="2048933">
                  <a:extLst>
                    <a:ext uri="{9D8B030D-6E8A-4147-A177-3AD203B41FA5}">
                      <a16:colId xmlns:a16="http://schemas.microsoft.com/office/drawing/2014/main" val="3123678487"/>
                    </a:ext>
                  </a:extLst>
                </a:gridCol>
              </a:tblGrid>
              <a:tr h="1193233">
                <a:tc>
                  <a:txBody>
                    <a:bodyPr/>
                    <a:lstStyle/>
                    <a:p>
                      <a:pPr>
                        <a:buNone/>
                      </a:pPr>
                      <a:endParaRPr lang="en-IN" b="1" dirty="0"/>
                    </a:p>
                    <a:p>
                      <a:pPr>
                        <a:buNone/>
                      </a:pPr>
                      <a:r>
                        <a:rPr lang="en-IN" b="1" dirty="0"/>
                        <a:t>System </a:t>
                      </a:r>
                    </a:p>
                    <a:p>
                      <a:pPr>
                        <a:buNone/>
                      </a:pPr>
                      <a:r>
                        <a:rPr lang="en-IN" b="1" dirty="0"/>
                        <a:t>or  Platform</a:t>
                      </a:r>
                      <a:endParaRPr lang="en-IN" dirty="0"/>
                    </a:p>
                  </a:txBody>
                  <a:tcPr anchor="ctr"/>
                </a:tc>
                <a:tc>
                  <a:txBody>
                    <a:bodyPr/>
                    <a:lstStyle/>
                    <a:p>
                      <a:endParaRPr lang="en-IN" dirty="0"/>
                    </a:p>
                    <a:p>
                      <a:r>
                        <a:rPr lang="en-IN" dirty="0"/>
                        <a:t>Primary</a:t>
                      </a:r>
                    </a:p>
                    <a:p>
                      <a:r>
                        <a:rPr lang="en-IN" dirty="0"/>
                        <a:t> Focus</a:t>
                      </a:r>
                    </a:p>
                  </a:txBody>
                  <a:tcPr/>
                </a:tc>
                <a:tc>
                  <a:txBody>
                    <a:bodyPr/>
                    <a:lstStyle/>
                    <a:p>
                      <a:endParaRPr lang="en-IN" dirty="0"/>
                    </a:p>
                    <a:p>
                      <a:r>
                        <a:rPr lang="en-IN" dirty="0"/>
                        <a:t>Data Domains Covered</a:t>
                      </a:r>
                    </a:p>
                  </a:txBody>
                  <a:tcPr/>
                </a:tc>
                <a:tc>
                  <a:txBody>
                    <a:bodyPr/>
                    <a:lstStyle/>
                    <a:p>
                      <a:endParaRPr lang="en-IN" dirty="0"/>
                    </a:p>
                    <a:p>
                      <a:r>
                        <a:rPr lang="en-IN" dirty="0"/>
                        <a:t>AI  &amp;  Automation</a:t>
                      </a:r>
                    </a:p>
                  </a:txBody>
                  <a:tcPr/>
                </a:tc>
                <a:tc>
                  <a:txBody>
                    <a:bodyPr/>
                    <a:lstStyle/>
                    <a:p>
                      <a:endParaRPr lang="en-IN" dirty="0"/>
                    </a:p>
                    <a:p>
                      <a:r>
                        <a:rPr lang="en-IN" dirty="0"/>
                        <a:t>Visualization Capability</a:t>
                      </a:r>
                    </a:p>
                  </a:txBody>
                  <a:tcPr/>
                </a:tc>
                <a:tc>
                  <a:txBody>
                    <a:bodyPr/>
                    <a:lstStyle/>
                    <a:p>
                      <a:endParaRPr lang="en-IN" dirty="0"/>
                    </a:p>
                    <a:p>
                      <a:r>
                        <a:rPr lang="en-IN" dirty="0"/>
                        <a:t>Identified Limitations</a:t>
                      </a:r>
                    </a:p>
                  </a:txBody>
                  <a:tcPr/>
                </a:tc>
                <a:extLst>
                  <a:ext uri="{0D108BD9-81ED-4DB2-BD59-A6C34878D82A}">
                    <a16:rowId xmlns:a16="http://schemas.microsoft.com/office/drawing/2014/main" val="4267079826"/>
                  </a:ext>
                </a:extLst>
              </a:tr>
              <a:tr h="1652597">
                <a:tc>
                  <a:txBody>
                    <a:bodyPr/>
                    <a:lstStyle/>
                    <a:p>
                      <a:r>
                        <a:rPr lang="en-IN" dirty="0"/>
                        <a:t>OBIS (Ocean Biodiversity Information System)</a:t>
                      </a:r>
                      <a:r>
                        <a:rPr lang="en-IN" b="1" dirty="0"/>
                        <a:t> [2]</a:t>
                      </a:r>
                    </a:p>
                  </a:txBody>
                  <a:tcPr/>
                </a:tc>
                <a:tc>
                  <a:txBody>
                    <a:bodyPr/>
                    <a:lstStyle/>
                    <a:p>
                      <a:r>
                        <a:rPr lang="en-US" dirty="0"/>
                        <a:t>Global marine species occurrence and distribution</a:t>
                      </a:r>
                      <a:endParaRPr lang="en-IN" dirty="0"/>
                    </a:p>
                  </a:txBody>
                  <a:tcPr/>
                </a:tc>
                <a:tc>
                  <a:txBody>
                    <a:bodyPr/>
                    <a:lstStyle/>
                    <a:p>
                      <a:r>
                        <a:rPr lang="en-IN" dirty="0"/>
                        <a:t>Occurrence (species-level, spatial data)</a:t>
                      </a:r>
                    </a:p>
                  </a:txBody>
                  <a:tcPr/>
                </a:tc>
                <a:tc>
                  <a:txBody>
                    <a:bodyPr/>
                    <a:lstStyle/>
                    <a:p>
                      <a:pPr>
                        <a:buNone/>
                      </a:pPr>
                      <a:r>
                        <a:rPr lang="en-IN" dirty="0"/>
                        <a:t>None</a:t>
                      </a:r>
                    </a:p>
                  </a:txBody>
                  <a:tcPr anchor="ctr"/>
                </a:tc>
                <a:tc>
                  <a:txBody>
                    <a:bodyPr/>
                    <a:lstStyle/>
                    <a:p>
                      <a:endParaRPr lang="en-IN" dirty="0"/>
                    </a:p>
                    <a:p>
                      <a:r>
                        <a:rPr lang="en-IN" dirty="0"/>
                        <a:t>Basic maps &amp; occurrence plots</a:t>
                      </a:r>
                    </a:p>
                    <a:p>
                      <a:endParaRPr lang="en-IN"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endParaRPr lang="en-US" dirty="0"/>
                    </a:p>
                    <a:p>
                      <a:pPr marL="0" marR="0" lvl="0" indent="0" algn="l" defTabSz="914400" rtl="0" eaLnBrk="1" fontAlgn="auto" latinLnBrk="0" hangingPunct="1">
                        <a:lnSpc>
                          <a:spcPct val="100000"/>
                        </a:lnSpc>
                        <a:spcBef>
                          <a:spcPts val="0"/>
                        </a:spcBef>
                        <a:spcAft>
                          <a:spcPts val="0"/>
                        </a:spcAft>
                        <a:buClrTx/>
                        <a:buSzTx/>
                        <a:buFontTx/>
                        <a:buNone/>
                        <a:tabLst/>
                        <a:defRPr/>
                      </a:pPr>
                      <a:r>
                        <a:rPr lang="en-US" dirty="0"/>
                        <a:t>Focuses only on occurrence data </a:t>
                      </a:r>
                      <a:endParaRPr lang="en-IN" dirty="0"/>
                    </a:p>
                  </a:txBody>
                  <a:tcPr/>
                </a:tc>
                <a:extLst>
                  <a:ext uri="{0D108BD9-81ED-4DB2-BD59-A6C34878D82A}">
                    <a16:rowId xmlns:a16="http://schemas.microsoft.com/office/drawing/2014/main" val="3078639448"/>
                  </a:ext>
                </a:extLst>
              </a:tr>
              <a:tr h="1551202">
                <a:tc>
                  <a:txBody>
                    <a:bodyPr/>
                    <a:lstStyle/>
                    <a:p>
                      <a:r>
                        <a:rPr lang="en-US" dirty="0"/>
                        <a:t>GBIF (Global Biodiversity Information Facility)</a:t>
                      </a:r>
                      <a:r>
                        <a:rPr lang="en-US" b="1" dirty="0"/>
                        <a:t> [3]</a:t>
                      </a:r>
                      <a:endParaRPr lang="en-IN" b="1" dirty="0"/>
                    </a:p>
                  </a:txBody>
                  <a:tcPr/>
                </a:tc>
                <a:tc>
                  <a:txBody>
                    <a:bodyPr/>
                    <a:lstStyle/>
                    <a:p>
                      <a:endParaRPr lang="en-US" dirty="0"/>
                    </a:p>
                    <a:p>
                      <a:r>
                        <a:rPr lang="en-US" dirty="0"/>
                        <a:t>Global biodiversity data sharing &amp; access</a:t>
                      </a:r>
                      <a:endParaRPr lang="en-IN" dirty="0"/>
                    </a:p>
                  </a:txBody>
                  <a:tcPr/>
                </a:tc>
                <a:tc>
                  <a:txBody>
                    <a:bodyPr/>
                    <a:lstStyle/>
                    <a:p>
                      <a:r>
                        <a:rPr lang="en-IN" dirty="0"/>
                        <a:t>Multi-species biodiversity (terrestrial and marine)</a:t>
                      </a:r>
                    </a:p>
                  </a:txBody>
                  <a:tcPr/>
                </a:tc>
                <a:tc>
                  <a:txBody>
                    <a:bodyPr/>
                    <a:lstStyle/>
                    <a:p>
                      <a:pPr>
                        <a:buNone/>
                      </a:pPr>
                      <a:r>
                        <a:rPr lang="en-IN" dirty="0"/>
                        <a:t>None</a:t>
                      </a:r>
                    </a:p>
                  </a:txBody>
                  <a:tcPr anchor="ctr"/>
                </a:tc>
                <a:tc>
                  <a:txBody>
                    <a:bodyPr/>
                    <a:lstStyle/>
                    <a:p>
                      <a:r>
                        <a:rPr lang="en-IN" dirty="0"/>
                        <a:t>Interactive species distribution maps</a:t>
                      </a:r>
                    </a:p>
                  </a:txBody>
                  <a:tcPr/>
                </a:tc>
                <a:tc>
                  <a:txBody>
                    <a:bodyPr/>
                    <a:lstStyle/>
                    <a:p>
                      <a:r>
                        <a:rPr lang="en-US" dirty="0"/>
                        <a:t>Limited to biodiversity and no oceanographic or molecular data integration</a:t>
                      </a:r>
                      <a:endParaRPr lang="en-IN" dirty="0"/>
                    </a:p>
                  </a:txBody>
                  <a:tcPr/>
                </a:tc>
                <a:extLst>
                  <a:ext uri="{0D108BD9-81ED-4DB2-BD59-A6C34878D82A}">
                    <a16:rowId xmlns:a16="http://schemas.microsoft.com/office/drawing/2014/main" val="3775764421"/>
                  </a:ext>
                </a:extLst>
              </a:tr>
              <a:tr h="2460968">
                <a:tc>
                  <a:txBody>
                    <a:bodyPr/>
                    <a:lstStyle/>
                    <a:p>
                      <a:r>
                        <a:rPr lang="en-IN" dirty="0"/>
                        <a:t>CMLRE / CMFRI Databases (India) </a:t>
                      </a:r>
                      <a:r>
                        <a:rPr lang="en-IN" b="1" dirty="0"/>
                        <a:t>[1]</a:t>
                      </a:r>
                    </a:p>
                  </a:txBody>
                  <a:tcPr/>
                </a:tc>
                <a:tc>
                  <a:txBody>
                    <a:bodyPr/>
                    <a:lstStyle/>
                    <a:p>
                      <a:r>
                        <a:rPr lang="en-IN" dirty="0"/>
                        <a:t>National marine resource management</a:t>
                      </a:r>
                    </a:p>
                  </a:txBody>
                  <a:tcPr/>
                </a:tc>
                <a:tc>
                  <a:txBody>
                    <a:bodyPr/>
                    <a:lstStyle/>
                    <a:p>
                      <a:r>
                        <a:rPr lang="en-IN" dirty="0"/>
                        <a:t>Oceanographic , fisheries and taxonomy data</a:t>
                      </a:r>
                    </a:p>
                  </a:txBody>
                  <a:tcPr/>
                </a:tc>
                <a:tc>
                  <a:txBody>
                    <a:bodyPr/>
                    <a:lstStyle/>
                    <a:p>
                      <a:endParaRPr lang="en-IN" dirty="0"/>
                    </a:p>
                    <a:p>
                      <a:r>
                        <a:rPr lang="en-IN" dirty="0"/>
                        <a:t>Minimal automation</a:t>
                      </a:r>
                    </a:p>
                  </a:txBody>
                  <a:tcPr/>
                </a:tc>
                <a:tc>
                  <a:txBody>
                    <a:bodyPr/>
                    <a:lstStyle/>
                    <a:p>
                      <a:r>
                        <a:rPr lang="en-IN" dirty="0"/>
                        <a:t>Limited internal dashboards</a:t>
                      </a:r>
                    </a:p>
                  </a:txBody>
                  <a:tcPr/>
                </a:tc>
                <a:tc>
                  <a:txBody>
                    <a:bodyPr/>
                    <a:lstStyle/>
                    <a:p>
                      <a:r>
                        <a:rPr lang="en-US" dirty="0"/>
                        <a:t>Data siloed across projects lacks molecular integration</a:t>
                      </a:r>
                      <a:endParaRPr lang="en-IN" dirty="0"/>
                    </a:p>
                  </a:txBody>
                  <a:tcPr/>
                </a:tc>
                <a:extLst>
                  <a:ext uri="{0D108BD9-81ED-4DB2-BD59-A6C34878D82A}">
                    <a16:rowId xmlns:a16="http://schemas.microsoft.com/office/drawing/2014/main" val="2691852668"/>
                  </a:ext>
                </a:extLst>
              </a:tr>
            </a:tbl>
          </a:graphicData>
        </a:graphic>
      </p:graphicFrame>
    </p:spTree>
    <p:extLst>
      <p:ext uri="{BB962C8B-B14F-4D97-AF65-F5344CB8AC3E}">
        <p14:creationId xmlns:p14="http://schemas.microsoft.com/office/powerpoint/2010/main" val="257868716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6" name="Content Placeholder 5">
            <a:extLst>
              <a:ext uri="{FF2B5EF4-FFF2-40B4-BE49-F238E27FC236}">
                <a16:creationId xmlns:a16="http://schemas.microsoft.com/office/drawing/2014/main" id="{E30F610D-18A3-2D44-2ABB-104A9A88C24F}"/>
              </a:ext>
            </a:extLst>
          </p:cNvPr>
          <p:cNvGraphicFramePr>
            <a:graphicFrameLocks noGrp="1"/>
          </p:cNvGraphicFramePr>
          <p:nvPr>
            <p:ph idx="1"/>
            <p:extLst>
              <p:ext uri="{D42A27DB-BD31-4B8C-83A1-F6EECF244321}">
                <p14:modId xmlns:p14="http://schemas.microsoft.com/office/powerpoint/2010/main" val="308629102"/>
              </p:ext>
            </p:extLst>
          </p:nvPr>
        </p:nvGraphicFramePr>
        <p:xfrm>
          <a:off x="0" y="0"/>
          <a:ext cx="12192000" cy="457200"/>
        </p:xfrm>
        <a:graphic>
          <a:graphicData uri="http://schemas.openxmlformats.org/drawingml/2006/table">
            <a:tbl>
              <a:tblPr firstRow="1" bandRow="1">
                <a:tableStyleId>{69012ECD-51FC-41F1-AA8D-1B2483CD663E}</a:tableStyleId>
              </a:tblPr>
              <a:tblGrid>
                <a:gridCol w="12192000">
                  <a:extLst>
                    <a:ext uri="{9D8B030D-6E8A-4147-A177-3AD203B41FA5}">
                      <a16:colId xmlns:a16="http://schemas.microsoft.com/office/drawing/2014/main" val="1433585416"/>
                    </a:ext>
                  </a:extLst>
                </a:gridCol>
              </a:tblGrid>
              <a:tr h="396240">
                <a:tc>
                  <a:txBody>
                    <a:bodyPr/>
                    <a:lstStyle/>
                    <a:p>
                      <a:pPr algn="l"/>
                      <a:r>
                        <a:rPr lang="en-IN" sz="2400" dirty="0"/>
                        <a:t>                                                     </a:t>
                      </a:r>
                      <a:r>
                        <a:rPr lang="en-IN" sz="2400" dirty="0">
                          <a:solidFill>
                            <a:schemeClr val="bg1"/>
                          </a:solidFill>
                        </a:rPr>
                        <a:t>LITERATURE REVIEW </a:t>
                      </a:r>
                    </a:p>
                  </a:txBody>
                  <a:tcPr/>
                </a:tc>
                <a:extLst>
                  <a:ext uri="{0D108BD9-81ED-4DB2-BD59-A6C34878D82A}">
                    <a16:rowId xmlns:a16="http://schemas.microsoft.com/office/drawing/2014/main" val="1246930744"/>
                  </a:ext>
                </a:extLst>
              </a:tr>
            </a:tbl>
          </a:graphicData>
        </a:graphic>
      </p:graphicFrame>
      <p:graphicFrame>
        <p:nvGraphicFramePr>
          <p:cNvPr id="7" name="Table 6">
            <a:extLst>
              <a:ext uri="{FF2B5EF4-FFF2-40B4-BE49-F238E27FC236}">
                <a16:creationId xmlns:a16="http://schemas.microsoft.com/office/drawing/2014/main" id="{4830E1EE-39E2-F534-DA73-A40A864BCF8F}"/>
              </a:ext>
            </a:extLst>
          </p:cNvPr>
          <p:cNvGraphicFramePr>
            <a:graphicFrameLocks noGrp="1"/>
          </p:cNvGraphicFramePr>
          <p:nvPr>
            <p:extLst>
              <p:ext uri="{D42A27DB-BD31-4B8C-83A1-F6EECF244321}">
                <p14:modId xmlns:p14="http://schemas.microsoft.com/office/powerpoint/2010/main" val="362256637"/>
              </p:ext>
            </p:extLst>
          </p:nvPr>
        </p:nvGraphicFramePr>
        <p:xfrm>
          <a:off x="0" y="457201"/>
          <a:ext cx="12192000" cy="6471919"/>
        </p:xfrm>
        <a:graphic>
          <a:graphicData uri="http://schemas.openxmlformats.org/drawingml/2006/table">
            <a:tbl>
              <a:tblPr firstRow="1" bandRow="1">
                <a:tableStyleId>{5C22544A-7EE6-4342-B048-85BDC9FD1C3A}</a:tableStyleId>
              </a:tblPr>
              <a:tblGrid>
                <a:gridCol w="2692400">
                  <a:extLst>
                    <a:ext uri="{9D8B030D-6E8A-4147-A177-3AD203B41FA5}">
                      <a16:colId xmlns:a16="http://schemas.microsoft.com/office/drawing/2014/main" val="3696573573"/>
                    </a:ext>
                  </a:extLst>
                </a:gridCol>
                <a:gridCol w="3037840">
                  <a:extLst>
                    <a:ext uri="{9D8B030D-6E8A-4147-A177-3AD203B41FA5}">
                      <a16:colId xmlns:a16="http://schemas.microsoft.com/office/drawing/2014/main" val="2674529495"/>
                    </a:ext>
                  </a:extLst>
                </a:gridCol>
                <a:gridCol w="5618480">
                  <a:extLst>
                    <a:ext uri="{9D8B030D-6E8A-4147-A177-3AD203B41FA5}">
                      <a16:colId xmlns:a16="http://schemas.microsoft.com/office/drawing/2014/main" val="3396434128"/>
                    </a:ext>
                  </a:extLst>
                </a:gridCol>
                <a:gridCol w="843280">
                  <a:extLst>
                    <a:ext uri="{9D8B030D-6E8A-4147-A177-3AD203B41FA5}">
                      <a16:colId xmlns:a16="http://schemas.microsoft.com/office/drawing/2014/main" val="540053386"/>
                    </a:ext>
                  </a:extLst>
                </a:gridCol>
              </a:tblGrid>
              <a:tr h="451922">
                <a:tc>
                  <a:txBody>
                    <a:bodyPr/>
                    <a:lstStyle/>
                    <a:p>
                      <a:pPr algn="ctr"/>
                      <a:r>
                        <a:rPr lang="en-IN" dirty="0"/>
                        <a:t>AUTHOR AND YEAR </a:t>
                      </a:r>
                    </a:p>
                  </a:txBody>
                  <a:tcPr/>
                </a:tc>
                <a:tc>
                  <a:txBody>
                    <a:bodyPr/>
                    <a:lstStyle/>
                    <a:p>
                      <a:pPr algn="ctr"/>
                      <a:r>
                        <a:rPr lang="en-IN" dirty="0"/>
                        <a:t>TITLE </a:t>
                      </a:r>
                    </a:p>
                  </a:txBody>
                  <a:tcPr/>
                </a:tc>
                <a:tc>
                  <a:txBody>
                    <a:bodyPr/>
                    <a:lstStyle/>
                    <a:p>
                      <a:pPr algn="ctr"/>
                      <a:r>
                        <a:rPr lang="en-IN" dirty="0"/>
                        <a:t>KEY OBSERVATIONS </a:t>
                      </a:r>
                    </a:p>
                  </a:txBody>
                  <a:tcPr/>
                </a:tc>
                <a:tc>
                  <a:txBody>
                    <a:bodyPr/>
                    <a:lstStyle/>
                    <a:p>
                      <a:pPr algn="ctr"/>
                      <a:r>
                        <a:rPr lang="en-IN" dirty="0"/>
                        <a:t>CITE</a:t>
                      </a:r>
                    </a:p>
                  </a:txBody>
                  <a:tcPr/>
                </a:tc>
                <a:extLst>
                  <a:ext uri="{0D108BD9-81ED-4DB2-BD59-A6C34878D82A}">
                    <a16:rowId xmlns:a16="http://schemas.microsoft.com/office/drawing/2014/main" val="1081629505"/>
                  </a:ext>
                </a:extLst>
              </a:tr>
              <a:tr h="1087980">
                <a:tc>
                  <a:txBody>
                    <a:bodyPr/>
                    <a:lstStyle/>
                    <a:p>
                      <a:pPr fontAlgn="base"/>
                      <a:r>
                        <a:rPr lang="en-US" sz="1600" b="1" i="0" kern="1200" dirty="0">
                          <a:solidFill>
                            <a:schemeClr val="dk1"/>
                          </a:solidFill>
                          <a:effectLst/>
                          <a:latin typeface="+mn-lt"/>
                          <a:ea typeface="+mn-ea"/>
                          <a:cs typeface="+mn-cs"/>
                        </a:rPr>
                        <a:t>2023</a:t>
                      </a:r>
                    </a:p>
                    <a:p>
                      <a:pPr fontAlgn="base"/>
                      <a:r>
                        <a:rPr lang="en-US" sz="1600" b="0" i="0" u="none" strike="noStrike" kern="1200" dirty="0">
                          <a:solidFill>
                            <a:schemeClr val="dk1"/>
                          </a:solidFill>
                          <a:effectLst/>
                          <a:latin typeface="+mn-lt"/>
                          <a:ea typeface="+mn-ea"/>
                          <a:cs typeface="+mn-cs"/>
                        </a:rPr>
                        <a:t>X He</a:t>
                      </a:r>
                      <a:r>
                        <a:rPr lang="en-US" sz="1600" b="0" i="0" kern="1200" dirty="0">
                          <a:solidFill>
                            <a:schemeClr val="dk1"/>
                          </a:solidFill>
                          <a:effectLst/>
                          <a:latin typeface="+mn-lt"/>
                          <a:ea typeface="+mn-ea"/>
                          <a:cs typeface="+mn-cs"/>
                        </a:rPr>
                        <a:t>, </a:t>
                      </a:r>
                      <a:r>
                        <a:rPr lang="en-US" sz="1600" b="0" i="0" u="none" strike="noStrike" kern="1200" dirty="0">
                          <a:solidFill>
                            <a:schemeClr val="dk1"/>
                          </a:solidFill>
                          <a:effectLst/>
                          <a:latin typeface="+mn-lt"/>
                          <a:ea typeface="+mn-ea"/>
                          <a:cs typeface="+mn-cs"/>
                        </a:rPr>
                        <a:t>N W Jeffery</a:t>
                      </a:r>
                      <a:r>
                        <a:rPr lang="en-US" sz="1600" b="0" i="0" kern="1200" dirty="0">
                          <a:solidFill>
                            <a:schemeClr val="dk1"/>
                          </a:solidFill>
                          <a:effectLst/>
                          <a:latin typeface="+mn-lt"/>
                          <a:ea typeface="+mn-ea"/>
                          <a:cs typeface="+mn-cs"/>
                        </a:rPr>
                        <a:t>, </a:t>
                      </a:r>
                      <a:r>
                        <a:rPr lang="en-US" sz="1600" b="0" i="0" u="none" strike="noStrike" kern="1200" dirty="0">
                          <a:solidFill>
                            <a:schemeClr val="dk1"/>
                          </a:solidFill>
                          <a:effectLst/>
                          <a:latin typeface="+mn-lt"/>
                          <a:ea typeface="+mn-ea"/>
                          <a:cs typeface="+mn-cs"/>
                        </a:rPr>
                        <a:t>R </a:t>
                      </a:r>
                      <a:r>
                        <a:rPr lang="en-US" sz="1600" b="0" i="0" u="none" strike="noStrike" kern="1200" dirty="0" err="1">
                          <a:solidFill>
                            <a:schemeClr val="dk1"/>
                          </a:solidFill>
                          <a:effectLst/>
                          <a:latin typeface="+mn-lt"/>
                          <a:ea typeface="+mn-ea"/>
                          <a:cs typeface="+mn-cs"/>
                        </a:rPr>
                        <a:t>R</a:t>
                      </a:r>
                      <a:r>
                        <a:rPr lang="en-US" sz="1600" b="0" i="0" u="none" strike="noStrike" kern="1200" dirty="0">
                          <a:solidFill>
                            <a:schemeClr val="dk1"/>
                          </a:solidFill>
                          <a:effectLst/>
                          <a:latin typeface="+mn-lt"/>
                          <a:ea typeface="+mn-ea"/>
                          <a:cs typeface="+mn-cs"/>
                        </a:rPr>
                        <a:t> E Stanley</a:t>
                      </a:r>
                      <a:r>
                        <a:rPr lang="en-US" sz="1600" b="0" i="0" kern="1200" dirty="0">
                          <a:solidFill>
                            <a:schemeClr val="dk1"/>
                          </a:solidFill>
                          <a:effectLst/>
                          <a:latin typeface="+mn-lt"/>
                          <a:ea typeface="+mn-ea"/>
                          <a:cs typeface="+mn-cs"/>
                        </a:rPr>
                        <a:t>, </a:t>
                      </a:r>
                      <a:r>
                        <a:rPr lang="en-US" sz="1600" b="0" i="0" u="none" strike="noStrike" kern="1200" dirty="0">
                          <a:solidFill>
                            <a:schemeClr val="dk1"/>
                          </a:solidFill>
                          <a:effectLst/>
                          <a:latin typeface="+mn-lt"/>
                          <a:ea typeface="+mn-ea"/>
                          <a:cs typeface="+mn-cs"/>
                        </a:rPr>
                        <a:t>L C Hamilton</a:t>
                      </a:r>
                      <a:r>
                        <a:rPr lang="en-US" sz="1600" b="0" i="0" kern="1200" dirty="0">
                          <a:solidFill>
                            <a:schemeClr val="dk1"/>
                          </a:solidFill>
                          <a:effectLst/>
                          <a:latin typeface="+mn-lt"/>
                          <a:ea typeface="+mn-ea"/>
                          <a:cs typeface="+mn-cs"/>
                        </a:rPr>
                        <a:t>, </a:t>
                      </a:r>
                      <a:r>
                        <a:rPr lang="en-US" sz="1600" b="0" i="0" u="none" strike="noStrike" kern="1200" dirty="0">
                          <a:solidFill>
                            <a:schemeClr val="dk1"/>
                          </a:solidFill>
                          <a:effectLst/>
                          <a:latin typeface="+mn-lt"/>
                          <a:ea typeface="+mn-ea"/>
                          <a:cs typeface="+mn-cs"/>
                        </a:rPr>
                        <a:t>E M Rubidge</a:t>
                      </a:r>
                      <a:r>
                        <a:rPr lang="en-US" sz="1600" b="0" i="0" kern="1200" dirty="0">
                          <a:solidFill>
                            <a:schemeClr val="dk1"/>
                          </a:solidFill>
                          <a:effectLst/>
                          <a:latin typeface="+mn-lt"/>
                          <a:ea typeface="+mn-ea"/>
                          <a:cs typeface="+mn-cs"/>
                        </a:rPr>
                        <a:t>, </a:t>
                      </a:r>
                      <a:r>
                        <a:rPr lang="en-US" sz="1600" b="0" i="0" u="sng" kern="1200" dirty="0">
                          <a:solidFill>
                            <a:schemeClr val="dk1"/>
                          </a:solidFill>
                          <a:effectLst/>
                          <a:latin typeface="+mn-lt"/>
                          <a:ea typeface="+mn-ea"/>
                          <a:cs typeface="+mn-cs"/>
                        </a:rPr>
                        <a:t>C L Abbott</a:t>
                      </a:r>
                      <a:endParaRPr lang="en-US" sz="1600" b="0" i="0" kern="1200" dirty="0">
                        <a:solidFill>
                          <a:schemeClr val="dk1"/>
                        </a:solidFill>
                        <a:effectLst/>
                        <a:latin typeface="+mn-lt"/>
                        <a:ea typeface="+mn-ea"/>
                        <a:cs typeface="+mn-cs"/>
                      </a:endParaRPr>
                    </a:p>
                  </a:txBody>
                  <a:tcPr/>
                </a:tc>
                <a:tc>
                  <a:txBody>
                    <a:bodyPr/>
                    <a:lstStyle/>
                    <a:p>
                      <a:r>
                        <a:rPr lang="en-IN" sz="1600" dirty="0"/>
                        <a:t>eDNA metabarcoding enriches traditional trawl survey data for monitoring biodiversity in the marine environment</a:t>
                      </a:r>
                    </a:p>
                  </a:txBody>
                  <a:tcPr/>
                </a:tc>
                <a:tc>
                  <a:txBody>
                    <a:bodyPr/>
                    <a:lstStyle/>
                    <a:p>
                      <a:r>
                        <a:rPr lang="en-US" sz="1600" dirty="0"/>
                        <a:t>How molecular techniques complement conventional ecological methods, supporting integrated marine monitoring . Thus aligning with the idea.</a:t>
                      </a:r>
                      <a:endParaRPr lang="en-IN" sz="1600" dirty="0"/>
                    </a:p>
                  </a:txBody>
                  <a:tcPr/>
                </a:tc>
                <a:tc>
                  <a:txBody>
                    <a:bodyPr/>
                    <a:lstStyle/>
                    <a:p>
                      <a:endParaRPr lang="en-IN" dirty="0"/>
                    </a:p>
                    <a:p>
                      <a:r>
                        <a:rPr lang="en-IN" sz="1800" b="1" dirty="0"/>
                        <a:t>[5]       </a:t>
                      </a:r>
                    </a:p>
                  </a:txBody>
                  <a:tcPr/>
                </a:tc>
                <a:extLst>
                  <a:ext uri="{0D108BD9-81ED-4DB2-BD59-A6C34878D82A}">
                    <a16:rowId xmlns:a16="http://schemas.microsoft.com/office/drawing/2014/main" val="2821535799"/>
                  </a:ext>
                </a:extLst>
              </a:tr>
              <a:tr h="1336662">
                <a:tc>
                  <a:txBody>
                    <a:bodyPr/>
                    <a:lstStyle/>
                    <a:p>
                      <a:r>
                        <a:rPr lang="en-IN" sz="1600" b="1" i="0" kern="1200" dirty="0">
                          <a:solidFill>
                            <a:schemeClr val="tx1">
                              <a:lumMod val="95000"/>
                              <a:lumOff val="5000"/>
                            </a:schemeClr>
                          </a:solidFill>
                          <a:effectLst/>
                          <a:latin typeface="+mn-lt"/>
                          <a:ea typeface="+mn-ea"/>
                          <a:cs typeface="+mn-cs"/>
                        </a:rPr>
                        <a:t>2024</a:t>
                      </a:r>
                    </a:p>
                    <a:p>
                      <a:r>
                        <a:rPr lang="en-IN" sz="1600" b="0" i="0" u="none" strike="noStrike" kern="1200" dirty="0">
                          <a:solidFill>
                            <a:schemeClr val="tx1">
                              <a:lumMod val="95000"/>
                              <a:lumOff val="5000"/>
                            </a:schemeClr>
                          </a:solidFill>
                          <a:effectLst/>
                          <a:latin typeface="+mn-lt"/>
                          <a:ea typeface="+mn-ea"/>
                          <a:cs typeface="+mn-cs"/>
                          <a:hlinkClick r:id="rId2">
                            <a:extLst>
                              <a:ext uri="{A12FA001-AC4F-418D-AE19-62706E023703}">
                                <ahyp:hlinkClr xmlns:ahyp="http://schemas.microsoft.com/office/drawing/2018/hyperlinkcolor" val="tx"/>
                              </a:ext>
                            </a:extLst>
                          </a:hlinkClick>
                        </a:rPr>
                        <a:t>Lone Kvalheim</a:t>
                      </a:r>
                      <a:r>
                        <a:rPr lang="en-IN" sz="1600" b="0" i="0" kern="1200" dirty="0">
                          <a:solidFill>
                            <a:schemeClr val="tx1">
                              <a:lumMod val="95000"/>
                              <a:lumOff val="5000"/>
                            </a:schemeClr>
                          </a:solidFill>
                          <a:effectLst/>
                          <a:latin typeface="+mn-lt"/>
                          <a:ea typeface="+mn-ea"/>
                          <a:cs typeface="+mn-cs"/>
                        </a:rPr>
                        <a:t>, </a:t>
                      </a:r>
                      <a:r>
                        <a:rPr lang="en-IN" sz="1600" b="0" i="0" u="none" strike="noStrike" kern="1200" dirty="0">
                          <a:solidFill>
                            <a:schemeClr val="tx1">
                              <a:lumMod val="95000"/>
                              <a:lumOff val="5000"/>
                            </a:schemeClr>
                          </a:solidFill>
                          <a:effectLst/>
                          <a:latin typeface="+mn-lt"/>
                          <a:ea typeface="+mn-ea"/>
                          <a:cs typeface="+mn-cs"/>
                          <a:hlinkClick r:id="rId3">
                            <a:extLst>
                              <a:ext uri="{A12FA001-AC4F-418D-AE19-62706E023703}">
                                <ahyp:hlinkClr xmlns:ahyp="http://schemas.microsoft.com/office/drawing/2018/hyperlinkcolor" val="tx"/>
                              </a:ext>
                            </a:extLst>
                          </a:hlinkClick>
                        </a:rPr>
                        <a:t>Eivind Stensrud</a:t>
                      </a:r>
                      <a:r>
                        <a:rPr lang="en-IN" sz="1600" b="0" i="0" kern="1200" dirty="0">
                          <a:solidFill>
                            <a:schemeClr val="tx1">
                              <a:lumMod val="95000"/>
                              <a:lumOff val="5000"/>
                            </a:schemeClr>
                          </a:solidFill>
                          <a:effectLst/>
                          <a:latin typeface="+mn-lt"/>
                          <a:ea typeface="+mn-ea"/>
                          <a:cs typeface="+mn-cs"/>
                        </a:rPr>
                        <a:t>, </a:t>
                      </a:r>
                      <a:r>
                        <a:rPr lang="en-IN" sz="1600" b="0" i="0" u="none" strike="noStrike" kern="1200" dirty="0">
                          <a:solidFill>
                            <a:schemeClr val="tx1">
                              <a:lumMod val="95000"/>
                              <a:lumOff val="5000"/>
                            </a:schemeClr>
                          </a:solidFill>
                          <a:effectLst/>
                          <a:latin typeface="+mn-lt"/>
                          <a:ea typeface="+mn-ea"/>
                          <a:cs typeface="+mn-cs"/>
                          <a:hlinkClick r:id="rId4">
                            <a:extLst>
                              <a:ext uri="{A12FA001-AC4F-418D-AE19-62706E023703}">
                                <ahyp:hlinkClr xmlns:ahyp="http://schemas.microsoft.com/office/drawing/2018/hyperlinkcolor" val="tx"/>
                              </a:ext>
                            </a:extLst>
                          </a:hlinkClick>
                        </a:rPr>
                        <a:t>Halvor Knutsen</a:t>
                      </a:r>
                      <a:r>
                        <a:rPr lang="en-IN" sz="1600" b="0" i="0" kern="1200" dirty="0">
                          <a:solidFill>
                            <a:schemeClr val="tx1">
                              <a:lumMod val="95000"/>
                              <a:lumOff val="5000"/>
                            </a:schemeClr>
                          </a:solidFill>
                          <a:effectLst/>
                          <a:latin typeface="+mn-lt"/>
                          <a:ea typeface="+mn-ea"/>
                          <a:cs typeface="+mn-cs"/>
                        </a:rPr>
                        <a:t>, </a:t>
                      </a:r>
                      <a:r>
                        <a:rPr lang="en-IN" sz="1600" b="0" i="0" u="none" strike="noStrike" kern="1200" dirty="0">
                          <a:solidFill>
                            <a:schemeClr val="tx1">
                              <a:lumMod val="95000"/>
                              <a:lumOff val="5000"/>
                            </a:schemeClr>
                          </a:solidFill>
                          <a:effectLst/>
                          <a:latin typeface="+mn-lt"/>
                          <a:ea typeface="+mn-ea"/>
                          <a:cs typeface="+mn-cs"/>
                          <a:hlinkClick r:id="rId5">
                            <a:extLst>
                              <a:ext uri="{A12FA001-AC4F-418D-AE19-62706E023703}">
                                <ahyp:hlinkClr xmlns:ahyp="http://schemas.microsoft.com/office/drawing/2018/hyperlinkcolor" val="tx"/>
                              </a:ext>
                            </a:extLst>
                          </a:hlinkClick>
                        </a:rPr>
                        <a:t>Olli Hyvärinen</a:t>
                      </a:r>
                      <a:r>
                        <a:rPr lang="en-IN" sz="1600" b="0" i="0" kern="1200" dirty="0">
                          <a:solidFill>
                            <a:schemeClr val="tx1">
                              <a:lumMod val="95000"/>
                              <a:lumOff val="5000"/>
                            </a:schemeClr>
                          </a:solidFill>
                          <a:effectLst/>
                          <a:latin typeface="+mn-lt"/>
                          <a:ea typeface="+mn-ea"/>
                          <a:cs typeface="+mn-cs"/>
                        </a:rPr>
                        <a:t>, </a:t>
                      </a:r>
                      <a:r>
                        <a:rPr lang="en-IN" sz="1600" b="0" i="0" u="none" strike="noStrike" kern="1200" dirty="0">
                          <a:solidFill>
                            <a:schemeClr val="tx1">
                              <a:lumMod val="95000"/>
                              <a:lumOff val="5000"/>
                            </a:schemeClr>
                          </a:solidFill>
                          <a:effectLst/>
                          <a:latin typeface="+mn-lt"/>
                          <a:ea typeface="+mn-ea"/>
                          <a:cs typeface="+mn-cs"/>
                          <a:hlinkClick r:id="rId6">
                            <a:extLst>
                              <a:ext uri="{A12FA001-AC4F-418D-AE19-62706E023703}">
                                <ahyp:hlinkClr xmlns:ahyp="http://schemas.microsoft.com/office/drawing/2018/hyperlinkcolor" val="tx"/>
                              </a:ext>
                            </a:extLst>
                          </a:hlinkClick>
                        </a:rPr>
                        <a:t>Alexander Eiler</a:t>
                      </a:r>
                      <a:endParaRPr lang="en-IN" sz="1600" b="0" i="0" kern="1200" dirty="0">
                        <a:solidFill>
                          <a:schemeClr val="tx1">
                            <a:lumMod val="95000"/>
                            <a:lumOff val="5000"/>
                          </a:schemeClr>
                        </a:solidFill>
                        <a:effectLst/>
                        <a:latin typeface="+mn-lt"/>
                        <a:ea typeface="+mn-ea"/>
                        <a:cs typeface="+mn-cs"/>
                      </a:endParaRPr>
                    </a:p>
                  </a:txBody>
                  <a:tcPr/>
                </a:tc>
                <a:tc>
                  <a:txBody>
                    <a:bodyPr/>
                    <a:lstStyle/>
                    <a:p>
                      <a:r>
                        <a:rPr lang="en-US" sz="1600" dirty="0"/>
                        <a:t>Integration of citizen science and eDNA reveals novel ecological insights for marine fish conservation</a:t>
                      </a:r>
                      <a:endParaRPr lang="en-IN" sz="1600" dirty="0"/>
                    </a:p>
                  </a:txBody>
                  <a:tcPr/>
                </a:tc>
                <a:tc>
                  <a:txBody>
                    <a:bodyPr/>
                    <a:lstStyle/>
                    <a:p>
                      <a:r>
                        <a:rPr lang="en-US" sz="1600" dirty="0"/>
                        <a:t>Tells how combining community data and molecular tools enhances biodiversity mapping and ecosystem management thus aligning with </a:t>
                      </a:r>
                      <a:r>
                        <a:rPr lang="en-US" sz="1600"/>
                        <a:t>goal to </a:t>
                      </a:r>
                      <a:r>
                        <a:rPr lang="en-US" sz="1600" dirty="0"/>
                        <a:t>integrate cross-disciplinary marine datasets.</a:t>
                      </a:r>
                      <a:endParaRPr lang="en-IN" sz="1600" dirty="0"/>
                    </a:p>
                  </a:txBody>
                  <a:tcPr/>
                </a:tc>
                <a:tc>
                  <a:txBody>
                    <a:bodyPr/>
                    <a:lstStyle/>
                    <a:p>
                      <a:endParaRPr lang="en-IN" sz="2400" b="1" dirty="0"/>
                    </a:p>
                    <a:p>
                      <a:r>
                        <a:rPr lang="en-IN" sz="1800" b="1" dirty="0"/>
                        <a:t>[6]</a:t>
                      </a:r>
                    </a:p>
                  </a:txBody>
                  <a:tcPr/>
                </a:tc>
                <a:extLst>
                  <a:ext uri="{0D108BD9-81ED-4DB2-BD59-A6C34878D82A}">
                    <a16:rowId xmlns:a16="http://schemas.microsoft.com/office/drawing/2014/main" val="4240073701"/>
                  </a:ext>
                </a:extLst>
              </a:tr>
              <a:tr h="1087980">
                <a:tc>
                  <a:txBody>
                    <a:bodyPr/>
                    <a:lstStyle/>
                    <a:p>
                      <a:r>
                        <a:rPr lang="en-IN" b="1" dirty="0"/>
                        <a:t>2024</a:t>
                      </a:r>
                    </a:p>
                    <a:p>
                      <a:r>
                        <a:rPr lang="en-IN" sz="1600" b="0" i="0" kern="1200" dirty="0">
                          <a:solidFill>
                            <a:schemeClr val="tx1">
                              <a:lumMod val="95000"/>
                              <a:lumOff val="5000"/>
                            </a:schemeClr>
                          </a:solidFill>
                          <a:effectLst/>
                          <a:latin typeface="+mn-lt"/>
                          <a:ea typeface="+mn-ea"/>
                          <a:cs typeface="+mn-cs"/>
                          <a:hlinkClick r:id="rId7">
                            <a:extLst>
                              <a:ext uri="{A12FA001-AC4F-418D-AE19-62706E023703}">
                                <ahyp:hlinkClr xmlns:ahyp="http://schemas.microsoft.com/office/drawing/2018/hyperlinkcolor" val="tx"/>
                              </a:ext>
                            </a:extLst>
                          </a:hlinkClick>
                        </a:rPr>
                        <a:t>Brigid K</a:t>
                      </a:r>
                      <a:r>
                        <a:rPr lang="en-IN" sz="1600" b="0" i="0" kern="1200" dirty="0">
                          <a:solidFill>
                            <a:srgbClr val="6B9F25"/>
                          </a:solidFill>
                          <a:effectLst/>
                          <a:latin typeface="+mn-lt"/>
                          <a:ea typeface="+mn-ea"/>
                          <a:cs typeface="+mn-cs"/>
                          <a:hlinkClick r:id="rId7">
                            <a:extLst>
                              <a:ext uri="{A12FA001-AC4F-418D-AE19-62706E023703}">
                                <ahyp:hlinkClr xmlns:ahyp="http://schemas.microsoft.com/office/drawing/2018/hyperlinkcolor" val="tx"/>
                              </a:ext>
                            </a:extLst>
                          </a:hlinkClick>
                        </a:rPr>
                        <a:t>  </a:t>
                      </a:r>
                      <a:r>
                        <a:rPr lang="en-IN" sz="1600" b="0" i="0" kern="1200" dirty="0" err="1">
                          <a:solidFill>
                            <a:schemeClr val="tx1">
                              <a:lumMod val="95000"/>
                              <a:lumOff val="5000"/>
                            </a:schemeClr>
                          </a:solidFill>
                          <a:effectLst/>
                          <a:latin typeface="+mn-lt"/>
                          <a:ea typeface="+mn-ea"/>
                          <a:cs typeface="+mn-cs"/>
                          <a:hlinkClick r:id="rId7">
                            <a:extLst>
                              <a:ext uri="{A12FA001-AC4F-418D-AE19-62706E023703}">
                                <ahyp:hlinkClr xmlns:ahyp="http://schemas.microsoft.com/office/drawing/2018/hyperlinkcolor" val="tx"/>
                              </a:ext>
                            </a:extLst>
                          </a:hlinkClick>
                        </a:rPr>
                        <a:t>Gesami</a:t>
                      </a:r>
                      <a:r>
                        <a:rPr lang="en-IN" sz="1600" b="0" i="0" kern="1200" baseline="30000" dirty="0">
                          <a:solidFill>
                            <a:schemeClr val="tx1">
                              <a:lumMod val="95000"/>
                              <a:lumOff val="5000"/>
                            </a:schemeClr>
                          </a:solidFill>
                          <a:effectLst/>
                          <a:latin typeface="+mn-lt"/>
                          <a:ea typeface="+mn-ea"/>
                          <a:cs typeface="+mn-cs"/>
                        </a:rPr>
                        <a:t> </a:t>
                      </a:r>
                      <a:r>
                        <a:rPr lang="en-IN" sz="1600" b="0" i="0" u="none" strike="noStrike" kern="1200" dirty="0">
                          <a:solidFill>
                            <a:schemeClr val="tx1">
                              <a:lumMod val="95000"/>
                              <a:lumOff val="5000"/>
                            </a:schemeClr>
                          </a:solidFill>
                          <a:effectLst/>
                          <a:latin typeface="+mn-lt"/>
                          <a:ea typeface="+mn-ea"/>
                          <a:cs typeface="+mn-cs"/>
                          <a:hlinkClick r:id="rId8">
                            <a:extLst>
                              <a:ext uri="{A12FA001-AC4F-418D-AE19-62706E023703}">
                                <ahyp:hlinkClr xmlns:ahyp="http://schemas.microsoft.com/office/drawing/2018/hyperlinkcolor" val="tx"/>
                              </a:ext>
                            </a:extLst>
                          </a:hlinkClick>
                        </a:rPr>
                        <a:t>Jacob Nunoo</a:t>
                      </a:r>
                      <a:endParaRPr lang="en-IN" sz="1600" b="0" i="0" kern="1200" dirty="0">
                        <a:solidFill>
                          <a:schemeClr val="tx1">
                            <a:lumMod val="95000"/>
                            <a:lumOff val="5000"/>
                          </a:schemeClr>
                        </a:solidFill>
                        <a:effectLst/>
                        <a:latin typeface="+mn-lt"/>
                        <a:ea typeface="+mn-ea"/>
                        <a:cs typeface="+mn-cs"/>
                      </a:endParaRPr>
                    </a:p>
                  </a:txBody>
                  <a:tcPr/>
                </a:tc>
                <a:tc>
                  <a:txBody>
                    <a:bodyPr/>
                    <a:lstStyle/>
                    <a:p>
                      <a:r>
                        <a:rPr lang="en-US" sz="1600" b="0" i="0" kern="1200" dirty="0">
                          <a:solidFill>
                            <a:schemeClr val="dk1"/>
                          </a:solidFill>
                          <a:effectLst/>
                          <a:latin typeface="+mn-lt"/>
                          <a:ea typeface="+mn-ea"/>
                          <a:cs typeface="+mn-cs"/>
                        </a:rPr>
                        <a:t>Artificial intelligence in marine ecosystem management: addressing climate threats to Kenya’s blue economy</a:t>
                      </a:r>
                      <a:endParaRPr lang="en-IN" sz="1600" dirty="0"/>
                    </a:p>
                  </a:txBody>
                  <a:tcPr/>
                </a:tc>
                <a:tc>
                  <a:txBody>
                    <a:bodyPr/>
                    <a:lstStyle/>
                    <a:p>
                      <a:r>
                        <a:rPr lang="en-US" sz="1800" b="0" i="0" kern="1200" dirty="0">
                          <a:solidFill>
                            <a:schemeClr val="dk1"/>
                          </a:solidFill>
                          <a:effectLst/>
                          <a:latin typeface="+mn-lt"/>
                          <a:ea typeface="+mn-ea"/>
                          <a:cs typeface="+mn-cs"/>
                        </a:rPr>
                        <a:t> </a:t>
                      </a:r>
                      <a:r>
                        <a:rPr lang="en-US" sz="1600" b="0" i="0" kern="1200" dirty="0">
                          <a:solidFill>
                            <a:schemeClr val="dk1"/>
                          </a:solidFill>
                          <a:effectLst/>
                          <a:latin typeface="+mn-lt"/>
                          <a:ea typeface="+mn-ea"/>
                          <a:cs typeface="+mn-cs"/>
                        </a:rPr>
                        <a:t>It</a:t>
                      </a:r>
                      <a:r>
                        <a:rPr lang="en-US" sz="1800" b="0" i="0" kern="1200" dirty="0">
                          <a:solidFill>
                            <a:schemeClr val="dk1"/>
                          </a:solidFill>
                          <a:effectLst/>
                          <a:latin typeface="+mn-lt"/>
                          <a:ea typeface="+mn-ea"/>
                          <a:cs typeface="+mn-cs"/>
                        </a:rPr>
                        <a:t> </a:t>
                      </a:r>
                      <a:r>
                        <a:rPr lang="en-US" sz="1600" b="0" i="0" kern="1200" dirty="0">
                          <a:solidFill>
                            <a:schemeClr val="dk1"/>
                          </a:solidFill>
                          <a:effectLst/>
                          <a:latin typeface="+mn-lt"/>
                          <a:ea typeface="+mn-ea"/>
                          <a:cs typeface="+mn-cs"/>
                        </a:rPr>
                        <a:t>investigates the application of Artificial Intelligence (AI) in monitoring and managing marine ecosystems to address the impacts of climate change on Kenya’s Blue Economy</a:t>
                      </a:r>
                      <a:endParaRPr lang="en-IN" sz="1600" dirty="0"/>
                    </a:p>
                  </a:txBody>
                  <a:tcPr/>
                </a:tc>
                <a:tc>
                  <a:txBody>
                    <a:bodyPr/>
                    <a:lstStyle/>
                    <a:p>
                      <a:r>
                        <a:rPr kumimoji="0" lang="en-IN" sz="2400" b="1" i="0" u="none" strike="noStrike" kern="1200" cap="none" spc="0" normalizeH="0" baseline="0" noProof="0" dirty="0">
                          <a:ln>
                            <a:noFill/>
                          </a:ln>
                          <a:solidFill>
                            <a:prstClr val="black"/>
                          </a:solidFill>
                          <a:effectLst/>
                          <a:uLnTx/>
                          <a:uFillTx/>
                          <a:latin typeface="+mn-lt"/>
                          <a:ea typeface="+mn-ea"/>
                          <a:cs typeface="+mn-cs"/>
                        </a:rPr>
                        <a:t>     </a:t>
                      </a:r>
                    </a:p>
                    <a:p>
                      <a:r>
                        <a:rPr kumimoji="0" lang="en-IN" sz="1800" b="1" i="0" u="none" strike="noStrike" kern="1200" cap="none" spc="0" normalizeH="0" baseline="0" noProof="0" dirty="0">
                          <a:ln>
                            <a:noFill/>
                          </a:ln>
                          <a:solidFill>
                            <a:prstClr val="black"/>
                          </a:solidFill>
                          <a:effectLst/>
                          <a:uLnTx/>
                          <a:uFillTx/>
                          <a:latin typeface="+mn-lt"/>
                          <a:ea typeface="+mn-ea"/>
                          <a:cs typeface="+mn-cs"/>
                        </a:rPr>
                        <a:t>[7]</a:t>
                      </a:r>
                      <a:endParaRPr lang="en-IN" sz="1800" dirty="0"/>
                    </a:p>
                  </a:txBody>
                  <a:tcPr/>
                </a:tc>
                <a:extLst>
                  <a:ext uri="{0D108BD9-81ED-4DB2-BD59-A6C34878D82A}">
                    <a16:rowId xmlns:a16="http://schemas.microsoft.com/office/drawing/2014/main" val="2461480338"/>
                  </a:ext>
                </a:extLst>
              </a:tr>
              <a:tr h="1192532">
                <a:tc>
                  <a:txBody>
                    <a:bodyPr/>
                    <a:lstStyle/>
                    <a:p>
                      <a:r>
                        <a:rPr lang="en-IN" sz="1600" b="1" dirty="0">
                          <a:solidFill>
                            <a:schemeClr val="tx1">
                              <a:lumMod val="95000"/>
                              <a:lumOff val="5000"/>
                            </a:schemeClr>
                          </a:solidFill>
                        </a:rPr>
                        <a:t>2024</a:t>
                      </a:r>
                      <a:r>
                        <a:rPr lang="en-IN" sz="1600" dirty="0">
                          <a:solidFill>
                            <a:schemeClr val="tx1">
                              <a:lumMod val="95000"/>
                              <a:lumOff val="5000"/>
                            </a:schemeClr>
                          </a:solidFill>
                        </a:rPr>
                        <a:t> </a:t>
                      </a:r>
                      <a:r>
                        <a:rPr lang="en-IN" sz="1400" dirty="0">
                          <a:solidFill>
                            <a:schemeClr val="tx1">
                              <a:lumMod val="95000"/>
                              <a:lumOff val="5000"/>
                            </a:schemeClr>
                          </a:solidFill>
                        </a:rPr>
                        <a:t>Contini Matteo</a:t>
                      </a:r>
                    </a:p>
                    <a:p>
                      <a:r>
                        <a:rPr lang="en-IN" sz="1400" b="0" i="0" kern="1200" dirty="0" err="1">
                          <a:solidFill>
                            <a:schemeClr val="dk1"/>
                          </a:solidFill>
                          <a:effectLst/>
                          <a:latin typeface="+mn-lt"/>
                          <a:ea typeface="+mn-ea"/>
                          <a:cs typeface="+mn-cs"/>
                        </a:rPr>
                        <a:t>Talpaert</a:t>
                      </a:r>
                      <a:r>
                        <a:rPr lang="en-IN" sz="1400" b="0" i="0" kern="1200" dirty="0">
                          <a:solidFill>
                            <a:schemeClr val="dk1"/>
                          </a:solidFill>
                          <a:effectLst/>
                          <a:latin typeface="+mn-lt"/>
                          <a:ea typeface="+mn-ea"/>
                          <a:cs typeface="+mn-cs"/>
                        </a:rPr>
                        <a:t> </a:t>
                      </a:r>
                      <a:r>
                        <a:rPr lang="en-IN" sz="1400" b="0" i="0" kern="1200" dirty="0" err="1">
                          <a:solidFill>
                            <a:schemeClr val="dk1"/>
                          </a:solidFill>
                          <a:effectLst/>
                          <a:latin typeface="+mn-lt"/>
                          <a:ea typeface="+mn-ea"/>
                          <a:cs typeface="+mn-cs"/>
                        </a:rPr>
                        <a:t>Daudon,JustineUrbina</a:t>
                      </a:r>
                      <a:endParaRPr lang="en-IN" sz="1400" b="0" i="0" kern="1200" dirty="0">
                        <a:solidFill>
                          <a:schemeClr val="dk1"/>
                        </a:solidFill>
                        <a:effectLst/>
                        <a:latin typeface="+mn-lt"/>
                        <a:ea typeface="+mn-ea"/>
                        <a:cs typeface="+mn-cs"/>
                      </a:endParaRPr>
                    </a:p>
                    <a:p>
                      <a:r>
                        <a:rPr lang="en-IN" sz="1400" b="0" i="0" kern="1200" dirty="0">
                          <a:solidFill>
                            <a:schemeClr val="dk1"/>
                          </a:solidFill>
                          <a:effectLst/>
                          <a:latin typeface="+mn-lt"/>
                          <a:ea typeface="+mn-ea"/>
                          <a:cs typeface="+mn-cs"/>
                        </a:rPr>
                        <a:t>Barreto,ElliottBriannaGuilhaumonFrançois,JolyAlexis,BardeJulien,BonhommeauSylvain</a:t>
                      </a:r>
                      <a:endParaRPr lang="en-IN" sz="1400" dirty="0">
                        <a:solidFill>
                          <a:schemeClr val="tx1">
                            <a:lumMod val="95000"/>
                            <a:lumOff val="5000"/>
                          </a:schemeClr>
                        </a:solidFill>
                      </a:endParaRPr>
                    </a:p>
                  </a:txBody>
                  <a:tcPr/>
                </a:tc>
                <a:tc>
                  <a:txBody>
                    <a:bodyPr/>
                    <a:lstStyle/>
                    <a:p>
                      <a:r>
                        <a:rPr lang="en-US" sz="1600" dirty="0" err="1"/>
                        <a:t>GeoAI</a:t>
                      </a:r>
                      <a:r>
                        <a:rPr lang="en-US" sz="1600" dirty="0"/>
                        <a:t> for Marine Ecosystem Monitoring: a Complete Workflow to Generate Maps from AI Model Predictions</a:t>
                      </a:r>
                      <a:endParaRPr lang="en-IN" sz="1600" dirty="0"/>
                    </a:p>
                  </a:txBody>
                  <a:tcPr/>
                </a:tc>
                <a:tc>
                  <a:txBody>
                    <a:bodyPr/>
                    <a:lstStyle/>
                    <a:p>
                      <a:r>
                        <a:rPr lang="en-US" sz="1600" dirty="0"/>
                        <a:t>It describes and share the code of a generic method to train a deep learning model with spatial annotations and use it to directly generate model predictions as spatial features. </a:t>
                      </a:r>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mn-lt"/>
                          <a:ea typeface="+mn-ea"/>
                          <a:cs typeface="+mn-cs"/>
                        </a:rPr>
                        <a:t>[8]</a:t>
                      </a:r>
                      <a:endParaRPr lang="en-IN" sz="1800" dirty="0"/>
                    </a:p>
                    <a:p>
                      <a:endParaRPr lang="en-IN" dirty="0"/>
                    </a:p>
                  </a:txBody>
                  <a:tcPr/>
                </a:tc>
                <a:extLst>
                  <a:ext uri="{0D108BD9-81ED-4DB2-BD59-A6C34878D82A}">
                    <a16:rowId xmlns:a16="http://schemas.microsoft.com/office/drawing/2014/main" val="4230092514"/>
                  </a:ext>
                </a:extLst>
              </a:tr>
              <a:tr h="1314843">
                <a:tc>
                  <a:txBody>
                    <a:bodyPr/>
                    <a:lstStyle/>
                    <a:p>
                      <a:pPr fontAlgn="ctr"/>
                      <a:r>
                        <a:rPr lang="en-IN" sz="1550" b="1" i="0" kern="1200" dirty="0">
                          <a:solidFill>
                            <a:schemeClr val="dk1"/>
                          </a:solidFill>
                          <a:effectLst/>
                          <a:latin typeface="+mn-lt"/>
                          <a:ea typeface="+mn-ea"/>
                          <a:cs typeface="+mn-cs"/>
                        </a:rPr>
                        <a:t>2022</a:t>
                      </a:r>
                    </a:p>
                    <a:p>
                      <a:r>
                        <a:rPr lang="en-IN" sz="1550" b="0" i="0" u="none" strike="noStrike" kern="1200" dirty="0">
                          <a:solidFill>
                            <a:schemeClr val="tx1">
                              <a:lumMod val="95000"/>
                              <a:lumOff val="5000"/>
                            </a:schemeClr>
                          </a:solidFill>
                          <a:effectLst/>
                          <a:latin typeface="+mn-lt"/>
                          <a:ea typeface="+mn-ea"/>
                          <a:cs typeface="+mn-cs"/>
                          <a:hlinkClick r:id="rId9">
                            <a:extLst>
                              <a:ext uri="{A12FA001-AC4F-418D-AE19-62706E023703}">
                                <ahyp:hlinkClr xmlns:ahyp="http://schemas.microsoft.com/office/drawing/2018/hyperlinkcolor" val="tx"/>
                              </a:ext>
                            </a:extLst>
                          </a:hlinkClick>
                        </a:rPr>
                        <a:t>Ellen M. </a:t>
                      </a:r>
                      <a:r>
                        <a:rPr lang="en-IN" sz="1550" b="0" i="0" u="none" strike="noStrike" kern="1200" dirty="0" err="1">
                          <a:solidFill>
                            <a:schemeClr val="tx1">
                              <a:lumMod val="95000"/>
                              <a:lumOff val="5000"/>
                            </a:schemeClr>
                          </a:solidFill>
                          <a:effectLst/>
                          <a:latin typeface="+mn-lt"/>
                          <a:ea typeface="+mn-ea"/>
                          <a:cs typeface="+mn-cs"/>
                          <a:hlinkClick r:id="rId9">
                            <a:extLst>
                              <a:ext uri="{A12FA001-AC4F-418D-AE19-62706E023703}">
                                <ahyp:hlinkClr xmlns:ahyp="http://schemas.microsoft.com/office/drawing/2018/hyperlinkcolor" val="tx"/>
                              </a:ext>
                            </a:extLst>
                          </a:hlinkClick>
                        </a:rPr>
                        <a:t>Ditria</a:t>
                      </a:r>
                      <a:r>
                        <a:rPr lang="en-IN" sz="1550" b="0" i="0" u="none" strike="noStrike" kern="1200" baseline="30000" dirty="0">
                          <a:solidFill>
                            <a:schemeClr val="tx1">
                              <a:lumMod val="95000"/>
                              <a:lumOff val="5000"/>
                            </a:schemeClr>
                          </a:solidFill>
                          <a:effectLst/>
                          <a:latin typeface="+mn-lt"/>
                          <a:ea typeface="+mn-ea"/>
                          <a:cs typeface="+mn-cs"/>
                        </a:rPr>
                        <a:t> </a:t>
                      </a:r>
                      <a:r>
                        <a:rPr lang="en-IN" sz="1550" b="0" i="0" u="none" strike="noStrike" kern="1200" dirty="0">
                          <a:solidFill>
                            <a:schemeClr val="tx1">
                              <a:lumMod val="95000"/>
                              <a:lumOff val="5000"/>
                            </a:schemeClr>
                          </a:solidFill>
                          <a:effectLst/>
                          <a:latin typeface="+mn-lt"/>
                          <a:ea typeface="+mn-ea"/>
                          <a:cs typeface="+mn-cs"/>
                          <a:hlinkClick r:id="rId10">
                            <a:extLst>
                              <a:ext uri="{A12FA001-AC4F-418D-AE19-62706E023703}">
                                <ahyp:hlinkClr xmlns:ahyp="http://schemas.microsoft.com/office/drawing/2018/hyperlinkcolor" val="tx"/>
                              </a:ext>
                            </a:extLst>
                          </a:hlinkClick>
                        </a:rPr>
                        <a:t>Christina A. Buelow</a:t>
                      </a:r>
                      <a:r>
                        <a:rPr lang="en-IN" sz="1550" b="0" i="0" u="none" strike="noStrike" kern="1200" dirty="0">
                          <a:solidFill>
                            <a:schemeClr val="tx1">
                              <a:lumMod val="95000"/>
                              <a:lumOff val="5000"/>
                            </a:schemeClr>
                          </a:solidFill>
                          <a:effectLst/>
                          <a:latin typeface="+mn-lt"/>
                          <a:ea typeface="+mn-ea"/>
                          <a:cs typeface="+mn-cs"/>
                        </a:rPr>
                        <a:t> </a:t>
                      </a:r>
                      <a:r>
                        <a:rPr lang="en-IN" sz="1550" b="0" i="0" u="none" strike="noStrike" kern="1200" dirty="0">
                          <a:solidFill>
                            <a:schemeClr val="tx1">
                              <a:lumMod val="95000"/>
                              <a:lumOff val="5000"/>
                            </a:schemeClr>
                          </a:solidFill>
                          <a:effectLst/>
                          <a:latin typeface="+mn-lt"/>
                          <a:ea typeface="+mn-ea"/>
                          <a:cs typeface="+mn-cs"/>
                          <a:hlinkClick r:id="rId11">
                            <a:extLst>
                              <a:ext uri="{A12FA001-AC4F-418D-AE19-62706E023703}">
                                <ahyp:hlinkClr xmlns:ahyp="http://schemas.microsoft.com/office/drawing/2018/hyperlinkcolor" val="tx"/>
                              </a:ext>
                            </a:extLst>
                          </a:hlinkClick>
                        </a:rPr>
                        <a:t>Manuel Gonzalez-Rivero</a:t>
                      </a:r>
                      <a:r>
                        <a:rPr lang="en-IN" sz="1550" b="0" i="0" u="none" strike="noStrike" kern="1200" baseline="30000" dirty="0">
                          <a:solidFill>
                            <a:schemeClr val="tx1">
                              <a:lumMod val="95000"/>
                              <a:lumOff val="5000"/>
                            </a:schemeClr>
                          </a:solidFill>
                          <a:effectLst/>
                          <a:latin typeface="+mn-lt"/>
                          <a:ea typeface="+mn-ea"/>
                          <a:cs typeface="+mn-cs"/>
                        </a:rPr>
                        <a:t> </a:t>
                      </a:r>
                      <a:r>
                        <a:rPr lang="en-IN" sz="1550" b="0" i="0" u="none" strike="noStrike" kern="1200" dirty="0">
                          <a:solidFill>
                            <a:schemeClr val="tx1">
                              <a:lumMod val="95000"/>
                              <a:lumOff val="5000"/>
                            </a:schemeClr>
                          </a:solidFill>
                          <a:effectLst/>
                          <a:latin typeface="+mn-lt"/>
                          <a:ea typeface="+mn-ea"/>
                          <a:cs typeface="+mn-cs"/>
                          <a:hlinkClick r:id="rId12">
                            <a:extLst>
                              <a:ext uri="{A12FA001-AC4F-418D-AE19-62706E023703}">
                                <ahyp:hlinkClr xmlns:ahyp="http://schemas.microsoft.com/office/drawing/2018/hyperlinkcolor" val="tx"/>
                              </a:ext>
                            </a:extLst>
                          </a:hlinkClick>
                        </a:rPr>
                        <a:t>Rod M. Connolly</a:t>
                      </a:r>
                      <a:endParaRPr lang="en-IN" sz="1550" b="0" i="0" kern="1200" dirty="0">
                        <a:solidFill>
                          <a:schemeClr val="tx1">
                            <a:lumMod val="95000"/>
                            <a:lumOff val="5000"/>
                          </a:schemeClr>
                        </a:solidFill>
                        <a:effectLst/>
                        <a:latin typeface="+mn-lt"/>
                        <a:ea typeface="+mn-ea"/>
                        <a:cs typeface="+mn-cs"/>
                      </a:endParaRPr>
                    </a:p>
                    <a:p>
                      <a:endParaRPr lang="en-IN" dirty="0"/>
                    </a:p>
                  </a:txBody>
                  <a:tcPr/>
                </a:tc>
                <a:tc>
                  <a:txBody>
                    <a:bodyPr/>
                    <a:lstStyle/>
                    <a:p>
                      <a:r>
                        <a:rPr lang="en-US" sz="1600" dirty="0"/>
                        <a:t>Artificial intelligence and automated monitoring for assisting conservation of marine ecosystems: A perspective</a:t>
                      </a:r>
                      <a:endParaRPr lang="en-IN" sz="1600" dirty="0"/>
                    </a:p>
                  </a:txBody>
                  <a:tcPr/>
                </a:tc>
                <a:tc>
                  <a:txBody>
                    <a:bodyPr/>
                    <a:lstStyle/>
                    <a:p>
                      <a:r>
                        <a:rPr lang="en-US" sz="1600" b="0" i="0" kern="1200" dirty="0">
                          <a:solidFill>
                            <a:schemeClr val="dk1"/>
                          </a:solidFill>
                          <a:effectLst/>
                          <a:latin typeface="+mn-lt"/>
                          <a:ea typeface="+mn-ea"/>
                          <a:cs typeface="+mn-cs"/>
                        </a:rPr>
                        <a:t>It concludes that the current research and emphasis on automated and AI assisted tools in several scientific disciplines may mean the future of monitoring and management in marine science is facilitated and improved by the implementation of automation.</a:t>
                      </a:r>
                      <a:endParaRPr lang="en-IN" sz="1600" dirty="0"/>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kumimoji="0" lang="en-IN" sz="1800" b="1" i="0" u="none" strike="noStrike" kern="1200" cap="none" spc="0" normalizeH="0" baseline="0" noProof="0" dirty="0">
                        <a:ln>
                          <a:noFill/>
                        </a:ln>
                        <a:solidFill>
                          <a:prstClr val="black"/>
                        </a:solidFill>
                        <a:effectLst/>
                        <a:uLnTx/>
                        <a:uFillTx/>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kumimoji="0" lang="en-IN" sz="1800" b="1" i="0" u="none" strike="noStrike" kern="1200" cap="none" spc="0" normalizeH="0" baseline="0" noProof="0" dirty="0">
                          <a:ln>
                            <a:noFill/>
                          </a:ln>
                          <a:solidFill>
                            <a:prstClr val="black"/>
                          </a:solidFill>
                          <a:effectLst/>
                          <a:uLnTx/>
                          <a:uFillTx/>
                          <a:latin typeface="+mn-lt"/>
                          <a:ea typeface="+mn-ea"/>
                          <a:cs typeface="+mn-cs"/>
                        </a:rPr>
                        <a:t>[9]</a:t>
                      </a:r>
                      <a:endParaRPr lang="en-IN" sz="1800" dirty="0"/>
                    </a:p>
                    <a:p>
                      <a:endParaRPr lang="en-IN" dirty="0"/>
                    </a:p>
                  </a:txBody>
                  <a:tcPr/>
                </a:tc>
                <a:extLst>
                  <a:ext uri="{0D108BD9-81ED-4DB2-BD59-A6C34878D82A}">
                    <a16:rowId xmlns:a16="http://schemas.microsoft.com/office/drawing/2014/main" val="611962458"/>
                  </a:ext>
                </a:extLst>
              </a:tr>
            </a:tbl>
          </a:graphicData>
        </a:graphic>
      </p:graphicFrame>
    </p:spTree>
    <p:extLst>
      <p:ext uri="{BB962C8B-B14F-4D97-AF65-F5344CB8AC3E}">
        <p14:creationId xmlns:p14="http://schemas.microsoft.com/office/powerpoint/2010/main" val="28017026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4A5204-8C3C-0A19-7B41-6EA408A9888C}"/>
              </a:ext>
            </a:extLst>
          </p:cNvPr>
          <p:cNvSpPr>
            <a:spLocks noGrp="1"/>
          </p:cNvSpPr>
          <p:nvPr>
            <p:ph type="title"/>
          </p:nvPr>
        </p:nvSpPr>
        <p:spPr>
          <a:xfrm>
            <a:off x="1341120" y="265176"/>
            <a:ext cx="9509759" cy="877824"/>
          </a:xfrm>
        </p:spPr>
        <p:txBody>
          <a:bodyPr>
            <a:normAutofit/>
          </a:bodyPr>
          <a:lstStyle/>
          <a:p>
            <a:pPr algn="ctr"/>
            <a:r>
              <a:rPr lang="en-US" sz="4400" b="1" i="1" dirty="0">
                <a:solidFill>
                  <a:schemeClr val="tx1">
                    <a:lumMod val="95000"/>
                    <a:lumOff val="5000"/>
                  </a:schemeClr>
                </a:solidFill>
              </a:rPr>
              <a:t>Research</a:t>
            </a:r>
            <a:r>
              <a:rPr lang="en-US" sz="4000" b="1" i="1" dirty="0">
                <a:solidFill>
                  <a:schemeClr val="tx1">
                    <a:lumMod val="95000"/>
                    <a:lumOff val="5000"/>
                  </a:schemeClr>
                </a:solidFill>
              </a:rPr>
              <a:t> Gap</a:t>
            </a:r>
            <a:endParaRPr lang="en-IN" sz="4000" b="1" i="1" dirty="0">
              <a:solidFill>
                <a:schemeClr val="tx1">
                  <a:lumMod val="95000"/>
                  <a:lumOff val="5000"/>
                </a:schemeClr>
              </a:solidFill>
            </a:endParaRPr>
          </a:p>
        </p:txBody>
      </p:sp>
      <p:sp>
        <p:nvSpPr>
          <p:cNvPr id="3" name="Content Placeholder 2">
            <a:extLst>
              <a:ext uri="{FF2B5EF4-FFF2-40B4-BE49-F238E27FC236}">
                <a16:creationId xmlns:a16="http://schemas.microsoft.com/office/drawing/2014/main" id="{FE572904-25A1-E4C3-A613-FC6E8653085D}"/>
              </a:ext>
            </a:extLst>
          </p:cNvPr>
          <p:cNvSpPr>
            <a:spLocks noGrp="1"/>
          </p:cNvSpPr>
          <p:nvPr>
            <p:ph idx="1"/>
          </p:nvPr>
        </p:nvSpPr>
        <p:spPr>
          <a:xfrm>
            <a:off x="285749" y="1747520"/>
            <a:ext cx="11363325" cy="4409440"/>
          </a:xfrm>
        </p:spPr>
        <p:txBody>
          <a:bodyPr>
            <a:normAutofit/>
          </a:bodyPr>
          <a:lstStyle/>
          <a:p>
            <a:pPr marL="502920" indent="-457200">
              <a:buFont typeface="+mj-lt"/>
              <a:buAutoNum type="arabicPeriod"/>
            </a:pPr>
            <a:r>
              <a:rPr lang="en-US" sz="2200" dirty="0"/>
              <a:t>Marine, fisheries, and molecular datasets exist in separate silos and incompatible formats.</a:t>
            </a:r>
            <a:endParaRPr lang="en-IN" sz="2200" dirty="0"/>
          </a:p>
          <a:p>
            <a:pPr marL="502920" indent="-457200">
              <a:buFont typeface="+mj-lt"/>
              <a:buAutoNum type="arabicPeriod"/>
            </a:pPr>
            <a:r>
              <a:rPr lang="en-US" sz="2200" dirty="0"/>
              <a:t>Existing tools lack cross-domain correlation for example knowing how environmental factors affect biodiversity and fish distribution.</a:t>
            </a:r>
          </a:p>
          <a:p>
            <a:pPr marL="502920" indent="-457200">
              <a:buFont typeface="+mj-lt"/>
              <a:buAutoNum type="arabicPeriod"/>
            </a:pPr>
            <a:r>
              <a:rPr lang="en-US" sz="2200" dirty="0"/>
              <a:t>Data sources are scattered in a heterogenous manner and integration is difficult </a:t>
            </a:r>
          </a:p>
          <a:p>
            <a:pPr marL="502920" indent="-457200">
              <a:buFont typeface="+mj-lt"/>
              <a:buAutoNum type="arabicPeriod"/>
            </a:pPr>
            <a:r>
              <a:rPr lang="en-US" sz="2200" dirty="0"/>
              <a:t>Automated</a:t>
            </a:r>
            <a:r>
              <a:rPr lang="en-US" sz="2200" b="1" dirty="0"/>
              <a:t> </a:t>
            </a:r>
            <a:r>
              <a:rPr lang="en-US" sz="2200" dirty="0"/>
              <a:t>metadata tagging and standardization</a:t>
            </a:r>
            <a:r>
              <a:rPr lang="en-US" sz="2200" b="1" dirty="0"/>
              <a:t> </a:t>
            </a:r>
            <a:r>
              <a:rPr lang="en-US" sz="2200" dirty="0"/>
              <a:t>are lacking in the existing platforms which if incorporated will improve search capabilities, ensure data consistency across an organization thus  saving time and reducing errors compared to manual methods.</a:t>
            </a:r>
          </a:p>
          <a:p>
            <a:pPr marL="45720" indent="0">
              <a:buNone/>
            </a:pPr>
            <a:endParaRPr lang="en-IN" sz="2200" dirty="0">
              <a:solidFill>
                <a:schemeClr val="accent2">
                  <a:lumMod val="75000"/>
                </a:schemeClr>
              </a:solidFill>
            </a:endParaRPr>
          </a:p>
        </p:txBody>
      </p:sp>
    </p:spTree>
    <p:extLst>
      <p:ext uri="{BB962C8B-B14F-4D97-AF65-F5344CB8AC3E}">
        <p14:creationId xmlns:p14="http://schemas.microsoft.com/office/powerpoint/2010/main" val="8378796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984066-0816-CACB-ECF0-45C554A04FDC}"/>
              </a:ext>
            </a:extLst>
          </p:cNvPr>
          <p:cNvSpPr>
            <a:spLocks noGrp="1"/>
          </p:cNvSpPr>
          <p:nvPr>
            <p:ph type="ctrTitle"/>
          </p:nvPr>
        </p:nvSpPr>
        <p:spPr>
          <a:xfrm>
            <a:off x="1420172" y="504826"/>
            <a:ext cx="9602789" cy="1219200"/>
          </a:xfrm>
        </p:spPr>
        <p:txBody>
          <a:bodyPr/>
          <a:lstStyle/>
          <a:p>
            <a:r>
              <a:rPr lang="en-IN" sz="5400" dirty="0"/>
              <a:t>PROBLEM STATEMENT</a:t>
            </a:r>
          </a:p>
        </p:txBody>
      </p:sp>
      <p:sp>
        <p:nvSpPr>
          <p:cNvPr id="3" name="Subtitle 2">
            <a:extLst>
              <a:ext uri="{FF2B5EF4-FFF2-40B4-BE49-F238E27FC236}">
                <a16:creationId xmlns:a16="http://schemas.microsoft.com/office/drawing/2014/main" id="{8C824C58-E1C6-0A8D-B7EA-4C2927302AD7}"/>
              </a:ext>
            </a:extLst>
          </p:cNvPr>
          <p:cNvSpPr>
            <a:spLocks noGrp="1"/>
          </p:cNvSpPr>
          <p:nvPr>
            <p:ph type="subTitle" idx="1"/>
          </p:nvPr>
        </p:nvSpPr>
        <p:spPr>
          <a:xfrm>
            <a:off x="1305872" y="2209800"/>
            <a:ext cx="9601200" cy="2819400"/>
          </a:xfrm>
        </p:spPr>
        <p:txBody>
          <a:bodyPr>
            <a:normAutofit/>
          </a:bodyPr>
          <a:lstStyle/>
          <a:p>
            <a:r>
              <a:rPr lang="en-IN" sz="2400" b="1" i="1" dirty="0">
                <a:solidFill>
                  <a:schemeClr val="tx1">
                    <a:lumMod val="95000"/>
                    <a:lumOff val="5000"/>
                  </a:schemeClr>
                </a:solidFill>
                <a:latin typeface="Montserrat Italic"/>
              </a:rPr>
              <a:t>“Marine, fisheries, and molecular biodiversity datasets in India exist in fragments</a:t>
            </a:r>
          </a:p>
          <a:p>
            <a:r>
              <a:rPr lang="en-IN" sz="2400" b="1" i="1" dirty="0">
                <a:solidFill>
                  <a:schemeClr val="tx1">
                    <a:lumMod val="95000"/>
                    <a:lumOff val="5000"/>
                  </a:schemeClr>
                </a:solidFill>
                <a:latin typeface="Montserrat Italic"/>
              </a:rPr>
              <a:t>This fragmentation prevents cross-domain insights that are critical for understanding marine ecosystem dynamics, biodiversity conservation, and sustainable fisheries management.”</a:t>
            </a:r>
          </a:p>
          <a:p>
            <a:endParaRPr lang="en-IN" dirty="0"/>
          </a:p>
        </p:txBody>
      </p:sp>
    </p:spTree>
    <p:extLst>
      <p:ext uri="{BB962C8B-B14F-4D97-AF65-F5344CB8AC3E}">
        <p14:creationId xmlns:p14="http://schemas.microsoft.com/office/powerpoint/2010/main" val="20471070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5D2B65-2EED-9B6D-A6CA-2E9F21871ABD}"/>
              </a:ext>
            </a:extLst>
          </p:cNvPr>
          <p:cNvSpPr>
            <a:spLocks noGrp="1"/>
          </p:cNvSpPr>
          <p:nvPr>
            <p:ph type="title"/>
          </p:nvPr>
        </p:nvSpPr>
        <p:spPr/>
        <p:txBody>
          <a:bodyPr/>
          <a:lstStyle/>
          <a:p>
            <a:pPr algn="ctr"/>
            <a:r>
              <a:rPr lang="en-IN" b="1" i="1" dirty="0">
                <a:solidFill>
                  <a:schemeClr val="tx1">
                    <a:lumMod val="95000"/>
                    <a:lumOff val="5000"/>
                  </a:schemeClr>
                </a:solidFill>
              </a:rPr>
              <a:t>Obj</a:t>
            </a:r>
            <a:r>
              <a:rPr lang="en-IN" sz="4000" b="1" i="1" dirty="0">
                <a:solidFill>
                  <a:schemeClr val="tx1">
                    <a:lumMod val="95000"/>
                    <a:lumOff val="5000"/>
                  </a:schemeClr>
                </a:solidFill>
              </a:rPr>
              <a:t>e</a:t>
            </a:r>
            <a:r>
              <a:rPr lang="en-IN" b="1" i="1" dirty="0">
                <a:solidFill>
                  <a:schemeClr val="tx1">
                    <a:lumMod val="95000"/>
                    <a:lumOff val="5000"/>
                  </a:schemeClr>
                </a:solidFill>
              </a:rPr>
              <a:t>ctives </a:t>
            </a:r>
          </a:p>
        </p:txBody>
      </p:sp>
      <p:sp>
        <p:nvSpPr>
          <p:cNvPr id="3" name="Content Placeholder 2">
            <a:extLst>
              <a:ext uri="{FF2B5EF4-FFF2-40B4-BE49-F238E27FC236}">
                <a16:creationId xmlns:a16="http://schemas.microsoft.com/office/drawing/2014/main" id="{5493205C-116C-9684-FD27-E45C978B8578}"/>
              </a:ext>
            </a:extLst>
          </p:cNvPr>
          <p:cNvSpPr>
            <a:spLocks noGrp="1"/>
          </p:cNvSpPr>
          <p:nvPr>
            <p:ph idx="1"/>
          </p:nvPr>
        </p:nvSpPr>
        <p:spPr>
          <a:xfrm>
            <a:off x="495299" y="1895475"/>
            <a:ext cx="11229975" cy="4600574"/>
          </a:xfrm>
        </p:spPr>
        <p:txBody>
          <a:bodyPr>
            <a:normAutofit/>
          </a:bodyPr>
          <a:lstStyle/>
          <a:p>
            <a:pPr marL="502920" indent="-457200">
              <a:buFont typeface="+mj-lt"/>
              <a:buAutoNum type="arabicPeriod"/>
            </a:pPr>
            <a:r>
              <a:rPr lang="en-IN" sz="2200" dirty="0"/>
              <a:t>To develop a unified data ecosystem integrating multi-domain marine datasets  including oceanographic, fisheries, and molecular (eDNA) data into a single digital platform.</a:t>
            </a:r>
          </a:p>
          <a:p>
            <a:pPr marL="502920" indent="-457200">
              <a:buFont typeface="+mj-lt"/>
              <a:buAutoNum type="arabicPeriod"/>
            </a:pPr>
            <a:r>
              <a:rPr lang="en-US" sz="2200" dirty="0"/>
              <a:t>To apply Artificial Intelligence (AI) systems for automated data ingestion, metadata tagging, and cross-domain correlation analysis.</a:t>
            </a:r>
          </a:p>
          <a:p>
            <a:pPr marL="502920" indent="-457200">
              <a:buFont typeface="+mj-lt"/>
              <a:buAutoNum type="arabicPeriod"/>
            </a:pPr>
            <a:r>
              <a:rPr lang="en-US" sz="2200" dirty="0"/>
              <a:t>To design interactive visualization tools for exploring biodiversity trends,</a:t>
            </a:r>
            <a:r>
              <a:rPr lang="en-US" sz="2200" b="1" dirty="0"/>
              <a:t> </a:t>
            </a:r>
            <a:r>
              <a:rPr lang="en-US" sz="2200" dirty="0"/>
              <a:t>ecosystem health, and the impact of ocean parameters on marine life.</a:t>
            </a:r>
          </a:p>
          <a:p>
            <a:pPr marL="502920" indent="-457200">
              <a:buFont typeface="+mj-lt"/>
              <a:buAutoNum type="arabicPeriod"/>
            </a:pPr>
            <a:r>
              <a:rPr lang="en-US" sz="2200" dirty="0"/>
              <a:t>To support sustainable ocean resource management and national-level research through the proposed platform </a:t>
            </a:r>
            <a:endParaRPr lang="en-IN" sz="2200" dirty="0"/>
          </a:p>
        </p:txBody>
      </p:sp>
    </p:spTree>
    <p:extLst>
      <p:ext uri="{BB962C8B-B14F-4D97-AF65-F5344CB8AC3E}">
        <p14:creationId xmlns:p14="http://schemas.microsoft.com/office/powerpoint/2010/main" val="22826310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341120" y="265176"/>
            <a:ext cx="9509759" cy="807844"/>
          </a:xfrm>
        </p:spPr>
        <p:txBody>
          <a:bodyPr>
            <a:normAutofit/>
          </a:bodyPr>
          <a:lstStyle/>
          <a:p>
            <a:pPr algn="ctr"/>
            <a:r>
              <a:rPr sz="4000" b="1" dirty="0">
                <a:solidFill>
                  <a:schemeClr val="tx1">
                    <a:lumMod val="95000"/>
                    <a:lumOff val="5000"/>
                  </a:schemeClr>
                </a:solidFill>
              </a:rPr>
              <a:t>Methodology</a:t>
            </a:r>
          </a:p>
        </p:txBody>
      </p:sp>
      <p:sp>
        <p:nvSpPr>
          <p:cNvPr id="3" name="Content Placeholder 2"/>
          <p:cNvSpPr>
            <a:spLocks noGrp="1"/>
          </p:cNvSpPr>
          <p:nvPr>
            <p:ph idx="1"/>
          </p:nvPr>
        </p:nvSpPr>
        <p:spPr>
          <a:xfrm>
            <a:off x="645158" y="1940767"/>
            <a:ext cx="4094793" cy="3957112"/>
          </a:xfrm>
        </p:spPr>
        <p:txBody>
          <a:bodyPr>
            <a:normAutofit/>
          </a:bodyPr>
          <a:lstStyle/>
          <a:p>
            <a:pPr>
              <a:buFont typeface="+mj-lt"/>
              <a:buAutoNum type="arabicPeriod"/>
            </a:pPr>
            <a:r>
              <a:rPr lang="en-US" sz="2200" b="1" dirty="0"/>
              <a:t>Data Collection</a:t>
            </a:r>
            <a:endParaRPr lang="en-US" sz="2200" dirty="0"/>
          </a:p>
          <a:p>
            <a:pPr>
              <a:buFont typeface="+mj-lt"/>
              <a:buAutoNum type="arabicPeriod"/>
            </a:pPr>
            <a:r>
              <a:rPr lang="en-US" sz="2200" b="1" dirty="0"/>
              <a:t>Preprocessing</a:t>
            </a:r>
            <a:endParaRPr lang="en-US" sz="2200" dirty="0"/>
          </a:p>
          <a:p>
            <a:pPr>
              <a:buFont typeface="+mj-lt"/>
              <a:buAutoNum type="arabicPeriod"/>
            </a:pPr>
            <a:r>
              <a:rPr lang="en-US" sz="2200" b="1" dirty="0"/>
              <a:t>Metadata Tagging</a:t>
            </a:r>
          </a:p>
          <a:p>
            <a:pPr>
              <a:buFont typeface="+mj-lt"/>
              <a:buAutoNum type="arabicPeriod"/>
            </a:pPr>
            <a:r>
              <a:rPr lang="en-US" sz="2200" b="1" dirty="0"/>
              <a:t> Data Integration</a:t>
            </a:r>
          </a:p>
          <a:p>
            <a:pPr>
              <a:buFont typeface="+mj-lt"/>
              <a:buAutoNum type="arabicPeriod"/>
            </a:pPr>
            <a:r>
              <a:rPr lang="en-US" sz="2200" b="1" dirty="0"/>
              <a:t>AI/ML Analysis</a:t>
            </a:r>
          </a:p>
          <a:p>
            <a:pPr>
              <a:buFont typeface="+mj-lt"/>
              <a:buAutoNum type="arabicPeriod"/>
            </a:pPr>
            <a:r>
              <a:rPr lang="en-US" sz="2200" b="1" dirty="0"/>
              <a:t>Visualization</a:t>
            </a:r>
            <a:endParaRPr lang="en-US" sz="2200" dirty="0"/>
          </a:p>
          <a:p>
            <a:pPr marL="45720" indent="0">
              <a:buNone/>
            </a:pPr>
            <a:endParaRPr dirty="0"/>
          </a:p>
        </p:txBody>
      </p:sp>
      <p:pic>
        <p:nvPicPr>
          <p:cNvPr id="5" name="Picture 4">
            <a:extLst>
              <a:ext uri="{FF2B5EF4-FFF2-40B4-BE49-F238E27FC236}">
                <a16:creationId xmlns:a16="http://schemas.microsoft.com/office/drawing/2014/main" id="{41B8A7AA-8A9A-7821-E1AA-24628A60F0CF}"/>
              </a:ext>
            </a:extLst>
          </p:cNvPr>
          <p:cNvPicPr>
            <a:picLocks noChangeAspect="1"/>
          </p:cNvPicPr>
          <p:nvPr/>
        </p:nvPicPr>
        <p:blipFill>
          <a:blip r:embed="rId2"/>
          <a:stretch>
            <a:fillRect/>
          </a:stretch>
        </p:blipFill>
        <p:spPr>
          <a:xfrm>
            <a:off x="4982548" y="1287158"/>
            <a:ext cx="5393094" cy="4554271"/>
          </a:xfrm>
          <a:prstGeom prst="rect">
            <a:avLst/>
          </a:prstGeom>
        </p:spPr>
      </p:pic>
      <p:sp>
        <p:nvSpPr>
          <p:cNvPr id="6" name="TextBox 5">
            <a:extLst>
              <a:ext uri="{FF2B5EF4-FFF2-40B4-BE49-F238E27FC236}">
                <a16:creationId xmlns:a16="http://schemas.microsoft.com/office/drawing/2014/main" id="{9ED65FBC-000A-2777-7A70-1034F53503FB}"/>
              </a:ext>
            </a:extLst>
          </p:cNvPr>
          <p:cNvSpPr txBox="1"/>
          <p:nvPr/>
        </p:nvSpPr>
        <p:spPr>
          <a:xfrm>
            <a:off x="6811347" y="6055567"/>
            <a:ext cx="2397967" cy="646331"/>
          </a:xfrm>
          <a:prstGeom prst="rect">
            <a:avLst/>
          </a:prstGeom>
          <a:noFill/>
        </p:spPr>
        <p:txBody>
          <a:bodyPr wrap="square" rtlCol="0">
            <a:spAutoFit/>
          </a:bodyPr>
          <a:lstStyle/>
          <a:p>
            <a:r>
              <a:rPr lang="en-IN" b="1" dirty="0"/>
              <a:t>Basic Workflow </a:t>
            </a:r>
          </a:p>
          <a:p>
            <a:r>
              <a:rPr lang="en-IN" b="1" dirty="0"/>
              <a:t>        Figure 1 </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43D32B-A8AE-6BE3-95BA-A7F7D0C9E0DA}"/>
              </a:ext>
            </a:extLst>
          </p:cNvPr>
          <p:cNvSpPr>
            <a:spLocks noGrp="1"/>
          </p:cNvSpPr>
          <p:nvPr>
            <p:ph type="title"/>
          </p:nvPr>
        </p:nvSpPr>
        <p:spPr>
          <a:xfrm>
            <a:off x="242596" y="74646"/>
            <a:ext cx="11800115" cy="634481"/>
          </a:xfrm>
        </p:spPr>
        <p:txBody>
          <a:bodyPr/>
          <a:lstStyle/>
          <a:p>
            <a:pPr algn="ctr"/>
            <a:r>
              <a:rPr lang="en-IN" b="1" dirty="0"/>
              <a:t> Data collection </a:t>
            </a:r>
          </a:p>
        </p:txBody>
      </p:sp>
      <p:sp>
        <p:nvSpPr>
          <p:cNvPr id="3" name="Content Placeholder 2">
            <a:extLst>
              <a:ext uri="{FF2B5EF4-FFF2-40B4-BE49-F238E27FC236}">
                <a16:creationId xmlns:a16="http://schemas.microsoft.com/office/drawing/2014/main" id="{C1FF30CB-DB43-F657-4DB0-138379CB30ED}"/>
              </a:ext>
            </a:extLst>
          </p:cNvPr>
          <p:cNvSpPr>
            <a:spLocks noGrp="1"/>
          </p:cNvSpPr>
          <p:nvPr>
            <p:ph idx="1"/>
          </p:nvPr>
        </p:nvSpPr>
        <p:spPr>
          <a:xfrm>
            <a:off x="149289" y="709127"/>
            <a:ext cx="11905861" cy="5980922"/>
          </a:xfrm>
        </p:spPr>
        <p:txBody>
          <a:bodyPr/>
          <a:lstStyle/>
          <a:p>
            <a:pPr marL="45720" indent="0" algn="ctr">
              <a:buNone/>
            </a:pPr>
            <a:r>
              <a:rPr lang="en-IN" dirty="0"/>
              <a:t>Here first we aim to </a:t>
            </a:r>
            <a:r>
              <a:rPr lang="en-US" dirty="0"/>
              <a:t>collect the heterogeneous marine records of reliable domestically and internationally repositories.</a:t>
            </a:r>
          </a:p>
          <a:p>
            <a:pPr marL="45720" indent="0">
              <a:buNone/>
            </a:pPr>
            <a:r>
              <a:rPr lang="en-US" b="1" dirty="0"/>
              <a:t>DATA DOMAINS AIMED :</a:t>
            </a:r>
          </a:p>
          <a:p>
            <a:pPr marL="45720" indent="0">
              <a:buNone/>
            </a:pPr>
            <a:r>
              <a:rPr lang="en-IN" u="sng" dirty="0"/>
              <a:t>Oceanographic Data</a:t>
            </a:r>
            <a:r>
              <a:rPr lang="en-IN" dirty="0"/>
              <a:t> : Sea Surface Temperature (SST) , Salinity , pH levels , Chlorophyll concentration</a:t>
            </a:r>
          </a:p>
          <a:p>
            <a:pPr marL="45720" indent="0">
              <a:buNone/>
            </a:pPr>
            <a:r>
              <a:rPr lang="en-US" u="sng" dirty="0"/>
              <a:t>Fisheries Data </a:t>
            </a:r>
            <a:r>
              <a:rPr lang="en-US" dirty="0"/>
              <a:t>: Fish abundance records , Catch statistics , </a:t>
            </a:r>
            <a:r>
              <a:rPr lang="en-IN" dirty="0"/>
              <a:t>Species distribution surveys</a:t>
            </a:r>
          </a:p>
          <a:p>
            <a:pPr marL="45720" indent="0">
              <a:buNone/>
            </a:pPr>
            <a:r>
              <a:rPr lang="en-IN" u="sng" dirty="0"/>
              <a:t>Molecular Biodiversity Data/eDNA </a:t>
            </a:r>
            <a:r>
              <a:rPr lang="en-IN" dirty="0"/>
              <a:t>: DNA sequence-based species detection , Metabarcoding datasets</a:t>
            </a:r>
          </a:p>
          <a:p>
            <a:pPr marL="45720" indent="0">
              <a:buNone/>
            </a:pPr>
            <a:r>
              <a:rPr lang="en-IN" u="sng" dirty="0"/>
              <a:t>Species Occurrence Records</a:t>
            </a:r>
            <a:r>
              <a:rPr lang="en-IN" dirty="0"/>
              <a:t> : Latitude–Longitude coordinates , Temporal observation records</a:t>
            </a:r>
          </a:p>
          <a:p>
            <a:pPr marL="45720" indent="0">
              <a:buNone/>
            </a:pPr>
            <a:r>
              <a:rPr lang="en-US" b="1" dirty="0"/>
              <a:t>DATA SOURCES :     </a:t>
            </a:r>
            <a:r>
              <a:rPr lang="en-US" dirty="0"/>
              <a:t>                                                          </a:t>
            </a:r>
            <a:r>
              <a:rPr lang="en-US" b="1" dirty="0"/>
              <a:t>DATA FORMATS TO BE HANDLED :</a:t>
            </a:r>
          </a:p>
          <a:p>
            <a:pPr marL="45720" indent="0">
              <a:buNone/>
            </a:pPr>
            <a:r>
              <a:rPr lang="en-IN" dirty="0"/>
              <a:t>Ocean Biodiversity Information System (OBIS)  [2]        CSV / Excel , JSON/API responses,</a:t>
            </a:r>
          </a:p>
          <a:p>
            <a:pPr marL="45720" indent="0">
              <a:buNone/>
            </a:pPr>
            <a:r>
              <a:rPr lang="en-US" dirty="0"/>
              <a:t>Global Biodiversity Information Facility (GBIF)  [3]       </a:t>
            </a:r>
            <a:r>
              <a:rPr lang="en-IN" dirty="0" err="1"/>
              <a:t>GeoJSON</a:t>
            </a:r>
            <a:r>
              <a:rPr lang="en-IN" dirty="0"/>
              <a:t>/Spatial datasets,</a:t>
            </a:r>
            <a:endParaRPr lang="en-US" dirty="0"/>
          </a:p>
          <a:p>
            <a:pPr marL="45720" indent="0">
              <a:buNone/>
            </a:pPr>
            <a:r>
              <a:rPr lang="en-IN" dirty="0"/>
              <a:t>CMLRE / CMFRI Databases [1]                                           Raster data/Satellite imagery,</a:t>
            </a:r>
          </a:p>
          <a:p>
            <a:pPr marL="45720" indent="0">
              <a:buNone/>
            </a:pPr>
            <a:r>
              <a:rPr lang="en-IN" dirty="0"/>
              <a:t>                                                                                                    Time-series sensor data</a:t>
            </a:r>
          </a:p>
        </p:txBody>
      </p:sp>
    </p:spTree>
    <p:extLst>
      <p:ext uri="{BB962C8B-B14F-4D97-AF65-F5344CB8AC3E}">
        <p14:creationId xmlns:p14="http://schemas.microsoft.com/office/powerpoint/2010/main" val="8402211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0F7F8A0-5604-99D2-B30E-E892103352B5}"/>
              </a:ext>
            </a:extLst>
          </p:cNvPr>
          <p:cNvSpPr>
            <a:spLocks noGrp="1"/>
          </p:cNvSpPr>
          <p:nvPr>
            <p:ph type="title"/>
          </p:nvPr>
        </p:nvSpPr>
        <p:spPr>
          <a:xfrm>
            <a:off x="1341120" y="265176"/>
            <a:ext cx="9509759" cy="667885"/>
          </a:xfrm>
        </p:spPr>
        <p:txBody>
          <a:bodyPr>
            <a:normAutofit fontScale="90000"/>
          </a:bodyPr>
          <a:lstStyle/>
          <a:p>
            <a:r>
              <a:rPr lang="en-IN" b="1" dirty="0"/>
              <a:t>Data Preprocessing and Standardization</a:t>
            </a:r>
          </a:p>
        </p:txBody>
      </p:sp>
      <p:sp>
        <p:nvSpPr>
          <p:cNvPr id="3" name="Content Placeholder 2">
            <a:extLst>
              <a:ext uri="{FF2B5EF4-FFF2-40B4-BE49-F238E27FC236}">
                <a16:creationId xmlns:a16="http://schemas.microsoft.com/office/drawing/2014/main" id="{88446D08-FA99-ECBB-D044-CD2E8F6A13FF}"/>
              </a:ext>
            </a:extLst>
          </p:cNvPr>
          <p:cNvSpPr>
            <a:spLocks noGrp="1"/>
          </p:cNvSpPr>
          <p:nvPr>
            <p:ph idx="1"/>
          </p:nvPr>
        </p:nvSpPr>
        <p:spPr>
          <a:xfrm>
            <a:off x="83975" y="1362268"/>
            <a:ext cx="12027159" cy="5411755"/>
          </a:xfrm>
        </p:spPr>
        <p:txBody>
          <a:bodyPr/>
          <a:lstStyle/>
          <a:p>
            <a:pPr marL="45720" indent="0" algn="ctr">
              <a:buNone/>
            </a:pPr>
            <a:r>
              <a:rPr lang="en-IN" dirty="0"/>
              <a:t>Here we aim to </a:t>
            </a:r>
            <a:r>
              <a:rPr lang="en-US" dirty="0"/>
              <a:t>clean, transform, and standardize heterogeneous marine datasets to ensure quality, consistency, and interoperability</a:t>
            </a:r>
            <a:endParaRPr lang="en-US" b="1" dirty="0"/>
          </a:p>
          <a:p>
            <a:pPr marL="45720" indent="0">
              <a:buNone/>
            </a:pPr>
            <a:r>
              <a:rPr lang="en-US" b="1" dirty="0"/>
              <a:t>KEY STEPS :</a:t>
            </a:r>
          </a:p>
          <a:p>
            <a:pPr marL="45720" indent="0">
              <a:buNone/>
            </a:pPr>
            <a:r>
              <a:rPr lang="en-US" u="sng" dirty="0"/>
              <a:t>Missing Value Handling </a:t>
            </a:r>
            <a:r>
              <a:rPr lang="en-US" dirty="0"/>
              <a:t>: Mean/Median imputation , K-Nearest Neighbor (KNN) imputation</a:t>
            </a:r>
          </a:p>
          <a:p>
            <a:pPr marL="45720" indent="0">
              <a:buNone/>
            </a:pPr>
            <a:r>
              <a:rPr lang="en-US" u="sng" dirty="0"/>
              <a:t>Outlier Detection </a:t>
            </a:r>
            <a:r>
              <a:rPr lang="en-US" dirty="0"/>
              <a:t>: Z-score method , Interquartile Range (IQR) filtering</a:t>
            </a:r>
          </a:p>
          <a:p>
            <a:pPr marL="45720" indent="0">
              <a:buNone/>
            </a:pPr>
            <a:r>
              <a:rPr lang="en-US" u="sng" dirty="0"/>
              <a:t>Noise Removal </a:t>
            </a:r>
            <a:r>
              <a:rPr lang="en-US" dirty="0"/>
              <a:t>: Filtering abnormal sensor readings , Removing duplicate entries</a:t>
            </a:r>
          </a:p>
          <a:p>
            <a:pPr marL="45720" indent="0">
              <a:buNone/>
            </a:pPr>
            <a:r>
              <a:rPr lang="en-US" u="sng" dirty="0"/>
              <a:t>Data Normalization</a:t>
            </a:r>
            <a:r>
              <a:rPr lang="en-US" dirty="0"/>
              <a:t> :Feature scaling/Min-Max Scaling/Standard Scaling , Unit standardization (</a:t>
            </a:r>
            <a:r>
              <a:rPr lang="en-US" dirty="0" err="1"/>
              <a:t>degC</a:t>
            </a:r>
            <a:r>
              <a:rPr lang="en-US" dirty="0"/>
              <a:t>, ppt, mg/L)</a:t>
            </a:r>
          </a:p>
          <a:p>
            <a:pPr marL="45720" indent="0">
              <a:buNone/>
            </a:pPr>
            <a:r>
              <a:rPr lang="en-US" dirty="0"/>
              <a:t>Since the marine datasets come from different years , units , format and measurement scales we preprocess the data to make our raw data usable for further steps </a:t>
            </a:r>
          </a:p>
          <a:p>
            <a:pPr marL="45720" indent="0">
              <a:buNone/>
            </a:pPr>
            <a:endParaRPr lang="en-US" dirty="0"/>
          </a:p>
          <a:p>
            <a:pPr marL="45720" indent="0">
              <a:buNone/>
            </a:pPr>
            <a:endParaRPr lang="en-US" dirty="0"/>
          </a:p>
        </p:txBody>
      </p:sp>
    </p:spTree>
    <p:extLst>
      <p:ext uri="{BB962C8B-B14F-4D97-AF65-F5344CB8AC3E}">
        <p14:creationId xmlns:p14="http://schemas.microsoft.com/office/powerpoint/2010/main" val="186479426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187E272-D592-BD50-E609-D5A53F613272}"/>
              </a:ext>
            </a:extLst>
          </p:cNvPr>
          <p:cNvSpPr>
            <a:spLocks noGrp="1"/>
          </p:cNvSpPr>
          <p:nvPr>
            <p:ph type="title"/>
          </p:nvPr>
        </p:nvSpPr>
        <p:spPr>
          <a:xfrm>
            <a:off x="1341120" y="265176"/>
            <a:ext cx="9509759" cy="649224"/>
          </a:xfrm>
        </p:spPr>
        <p:txBody>
          <a:bodyPr/>
          <a:lstStyle/>
          <a:p>
            <a:pPr algn="ctr"/>
            <a:r>
              <a:rPr lang="en-IN" b="1" dirty="0"/>
              <a:t>Metadata Tagging </a:t>
            </a:r>
          </a:p>
        </p:txBody>
      </p:sp>
      <p:sp>
        <p:nvSpPr>
          <p:cNvPr id="3" name="Content Placeholder 2">
            <a:extLst>
              <a:ext uri="{FF2B5EF4-FFF2-40B4-BE49-F238E27FC236}">
                <a16:creationId xmlns:a16="http://schemas.microsoft.com/office/drawing/2014/main" id="{7AD2CF33-7085-59BF-4E4E-C6EC1779A9F8}"/>
              </a:ext>
            </a:extLst>
          </p:cNvPr>
          <p:cNvSpPr>
            <a:spLocks noGrp="1"/>
          </p:cNvSpPr>
          <p:nvPr>
            <p:ph idx="1"/>
          </p:nvPr>
        </p:nvSpPr>
        <p:spPr>
          <a:xfrm>
            <a:off x="149289" y="1184988"/>
            <a:ext cx="11961845" cy="5514392"/>
          </a:xfrm>
        </p:spPr>
        <p:txBody>
          <a:bodyPr>
            <a:normAutofit/>
          </a:bodyPr>
          <a:lstStyle/>
          <a:p>
            <a:pPr marL="45720" indent="0" algn="ctr">
              <a:buNone/>
            </a:pPr>
            <a:r>
              <a:rPr lang="en-IN" dirty="0"/>
              <a:t>Here we aim to</a:t>
            </a:r>
            <a:r>
              <a:rPr lang="en-US" dirty="0"/>
              <a:t> automatically generate structured metadata for heterogeneous marine datasets using Artificial Intelligence and Natural Language Processing (NLP)</a:t>
            </a:r>
          </a:p>
          <a:p>
            <a:pPr marL="45720" indent="0">
              <a:buNone/>
            </a:pPr>
            <a:r>
              <a:rPr lang="en-US" b="1" u="sng" dirty="0"/>
              <a:t>What is the need</a:t>
            </a:r>
            <a:r>
              <a:rPr lang="en-US" b="1" dirty="0"/>
              <a:t>?</a:t>
            </a:r>
          </a:p>
          <a:p>
            <a:pPr marL="45720" indent="0">
              <a:buNone/>
            </a:pPr>
            <a:r>
              <a:rPr lang="en-US" dirty="0"/>
              <a:t>Marine data is not standardized in terms of labeling. The process of tagging manually is not fast and is not uniform. Searchability and interoperability are decreased by poor metadata.</a:t>
            </a:r>
          </a:p>
          <a:p>
            <a:pPr marL="45720" indent="0">
              <a:buNone/>
            </a:pPr>
            <a:r>
              <a:rPr lang="en-US" b="1" dirty="0"/>
              <a:t>TECHNIQUES TO BE USED :</a:t>
            </a:r>
          </a:p>
          <a:p>
            <a:pPr marL="45720" indent="0">
              <a:buNone/>
            </a:pPr>
            <a:r>
              <a:rPr lang="en-US" u="sng" dirty="0"/>
              <a:t>Natural Language Processing(NLP) </a:t>
            </a:r>
            <a:r>
              <a:rPr lang="en-US" dirty="0"/>
              <a:t>: TF-IDF Vectorization , Named Entity Recognition (NER), Transformer Models (BERT)</a:t>
            </a:r>
          </a:p>
          <a:p>
            <a:pPr marL="45720" indent="0">
              <a:buNone/>
            </a:pPr>
            <a:r>
              <a:rPr lang="en-US" u="sng" dirty="0"/>
              <a:t>Ontology Mapping </a:t>
            </a:r>
            <a:r>
              <a:rPr lang="en-US" dirty="0"/>
              <a:t>: Species name mapping to standardized taxonomy databases , Habitat classification alignment </a:t>
            </a:r>
          </a:p>
          <a:p>
            <a:pPr marL="45720" indent="0">
              <a:buNone/>
            </a:pPr>
            <a:r>
              <a:rPr lang="en-US" u="sng" dirty="0"/>
              <a:t>Clustering-Based Auto Categorization</a:t>
            </a:r>
            <a:r>
              <a:rPr lang="en-US" dirty="0"/>
              <a:t>: K-Means Clustering , Hierarchical Clustering</a:t>
            </a:r>
          </a:p>
          <a:p>
            <a:pPr marL="45720" indent="0">
              <a:buNone/>
            </a:pPr>
            <a:endParaRPr lang="en-US" dirty="0"/>
          </a:p>
          <a:p>
            <a:pPr marL="45720" indent="0">
              <a:buNone/>
            </a:pPr>
            <a:endParaRPr lang="en-US" dirty="0"/>
          </a:p>
          <a:p>
            <a:pPr marL="45720" indent="0">
              <a:buNone/>
            </a:pPr>
            <a:endParaRPr lang="en-IN" dirty="0"/>
          </a:p>
        </p:txBody>
      </p:sp>
    </p:spTree>
    <p:extLst>
      <p:ext uri="{BB962C8B-B14F-4D97-AF65-F5344CB8AC3E}">
        <p14:creationId xmlns:p14="http://schemas.microsoft.com/office/powerpoint/2010/main" val="181329941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35E2DC-4E37-3351-C70E-431980442DC6}"/>
              </a:ext>
            </a:extLst>
          </p:cNvPr>
          <p:cNvSpPr>
            <a:spLocks noGrp="1"/>
          </p:cNvSpPr>
          <p:nvPr>
            <p:ph type="title"/>
          </p:nvPr>
        </p:nvSpPr>
        <p:spPr>
          <a:xfrm>
            <a:off x="1341120" y="265176"/>
            <a:ext cx="9509759" cy="630563"/>
          </a:xfrm>
        </p:spPr>
        <p:txBody>
          <a:bodyPr/>
          <a:lstStyle/>
          <a:p>
            <a:pPr algn="ctr"/>
            <a:r>
              <a:rPr lang="en-IN" b="1" dirty="0"/>
              <a:t>Data Integration</a:t>
            </a:r>
          </a:p>
        </p:txBody>
      </p:sp>
      <p:sp>
        <p:nvSpPr>
          <p:cNvPr id="3" name="Content Placeholder 2">
            <a:extLst>
              <a:ext uri="{FF2B5EF4-FFF2-40B4-BE49-F238E27FC236}">
                <a16:creationId xmlns:a16="http://schemas.microsoft.com/office/drawing/2014/main" id="{516C418C-9209-FA2B-D859-3A73AF95BC62}"/>
              </a:ext>
            </a:extLst>
          </p:cNvPr>
          <p:cNvSpPr>
            <a:spLocks noGrp="1"/>
          </p:cNvSpPr>
          <p:nvPr>
            <p:ph idx="1"/>
          </p:nvPr>
        </p:nvSpPr>
        <p:spPr>
          <a:xfrm>
            <a:off x="242595" y="1026367"/>
            <a:ext cx="11877869" cy="5635690"/>
          </a:xfrm>
        </p:spPr>
        <p:txBody>
          <a:bodyPr>
            <a:normAutofit/>
          </a:bodyPr>
          <a:lstStyle/>
          <a:p>
            <a:pPr marL="45720" indent="0" algn="ctr">
              <a:buNone/>
            </a:pPr>
            <a:r>
              <a:rPr lang="en-US" dirty="0"/>
              <a:t>Here we aim to merge heterogeneous marine, fisheries, and molecular datasets into a unified, interoperable data ecosystem</a:t>
            </a:r>
          </a:p>
          <a:p>
            <a:pPr marL="45720" indent="0">
              <a:buNone/>
            </a:pPr>
            <a:r>
              <a:rPr lang="en-US" b="1" dirty="0"/>
              <a:t>INTEGRATION STRATEGY :</a:t>
            </a:r>
          </a:p>
          <a:p>
            <a:pPr marL="45720" indent="0">
              <a:buNone/>
            </a:pPr>
            <a:r>
              <a:rPr lang="en-US" u="sng" dirty="0"/>
              <a:t>Schema Mapping </a:t>
            </a:r>
            <a:r>
              <a:rPr lang="en-US" dirty="0"/>
              <a:t>: Align different dataset structures into a unified schema</a:t>
            </a:r>
          </a:p>
          <a:p>
            <a:pPr marL="45720" indent="0">
              <a:buNone/>
            </a:pPr>
            <a:r>
              <a:rPr lang="en-US" u="sng" dirty="0"/>
              <a:t>Entity Resolution </a:t>
            </a:r>
            <a:r>
              <a:rPr lang="en-US" dirty="0"/>
              <a:t>: Match identical species across datasets</a:t>
            </a:r>
          </a:p>
          <a:p>
            <a:pPr marL="45720" indent="0">
              <a:buNone/>
            </a:pPr>
            <a:r>
              <a:rPr lang="en-US" u="sng" dirty="0"/>
              <a:t>Spatial Integration </a:t>
            </a:r>
            <a:r>
              <a:rPr lang="en-US" dirty="0"/>
              <a:t>: Link datasets using geographic coordinates</a:t>
            </a:r>
          </a:p>
          <a:p>
            <a:pPr marL="45720" indent="0">
              <a:buNone/>
            </a:pPr>
            <a:r>
              <a:rPr lang="en-US" u="sng" dirty="0"/>
              <a:t>Temporal Alignment </a:t>
            </a:r>
            <a:r>
              <a:rPr lang="en-US" dirty="0"/>
              <a:t>: Synchronize datasets based on timestamp</a:t>
            </a:r>
          </a:p>
          <a:p>
            <a:pPr marL="45720" indent="0">
              <a:buNone/>
            </a:pPr>
            <a:r>
              <a:rPr lang="en-US" b="1" dirty="0"/>
              <a:t>ARCHITECTURE DESIGN :</a:t>
            </a:r>
          </a:p>
          <a:p>
            <a:pPr marL="45720" indent="0">
              <a:buNone/>
            </a:pPr>
            <a:r>
              <a:rPr lang="en-US" dirty="0"/>
              <a:t>Centralized Data Lake</a:t>
            </a:r>
          </a:p>
          <a:p>
            <a:pPr marL="45720" indent="0">
              <a:buNone/>
            </a:pPr>
            <a:r>
              <a:rPr lang="en-US" dirty="0"/>
              <a:t>Relational Database Management System</a:t>
            </a:r>
          </a:p>
          <a:p>
            <a:pPr marL="45720" indent="0">
              <a:buNone/>
            </a:pPr>
            <a:r>
              <a:rPr lang="en-US" dirty="0"/>
              <a:t>Spatial Database Extension</a:t>
            </a:r>
          </a:p>
          <a:p>
            <a:pPr marL="45720" indent="0">
              <a:buNone/>
            </a:pPr>
            <a:endParaRPr lang="en-US" dirty="0"/>
          </a:p>
          <a:p>
            <a:pPr marL="45720" indent="0">
              <a:buNone/>
            </a:pPr>
            <a:endParaRPr lang="en-US" dirty="0"/>
          </a:p>
          <a:p>
            <a:pPr marL="45720" indent="0">
              <a:buNone/>
            </a:pPr>
            <a:endParaRPr lang="en-US" dirty="0"/>
          </a:p>
          <a:p>
            <a:pPr marL="45720" indent="0">
              <a:buNone/>
            </a:pPr>
            <a:endParaRPr lang="en-IN" dirty="0"/>
          </a:p>
        </p:txBody>
      </p:sp>
    </p:spTree>
    <p:extLst>
      <p:ext uri="{BB962C8B-B14F-4D97-AF65-F5344CB8AC3E}">
        <p14:creationId xmlns:p14="http://schemas.microsoft.com/office/powerpoint/2010/main" val="39116586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B50B37E-84B3-D278-F61F-23A1EACF3844}"/>
              </a:ext>
            </a:extLst>
          </p:cNvPr>
          <p:cNvSpPr>
            <a:spLocks noGrp="1"/>
          </p:cNvSpPr>
          <p:nvPr>
            <p:ph type="title"/>
          </p:nvPr>
        </p:nvSpPr>
        <p:spPr>
          <a:xfrm>
            <a:off x="1341120" y="265176"/>
            <a:ext cx="9509759" cy="667885"/>
          </a:xfrm>
        </p:spPr>
        <p:txBody>
          <a:bodyPr/>
          <a:lstStyle/>
          <a:p>
            <a:pPr algn="ctr"/>
            <a:r>
              <a:rPr lang="en-IN" b="1" dirty="0"/>
              <a:t>AI / ML Modelling</a:t>
            </a:r>
          </a:p>
        </p:txBody>
      </p:sp>
      <p:sp>
        <p:nvSpPr>
          <p:cNvPr id="3" name="Content Placeholder 2">
            <a:extLst>
              <a:ext uri="{FF2B5EF4-FFF2-40B4-BE49-F238E27FC236}">
                <a16:creationId xmlns:a16="http://schemas.microsoft.com/office/drawing/2014/main" id="{0CC224D1-A1CF-5465-AC7D-79762C17F37E}"/>
              </a:ext>
            </a:extLst>
          </p:cNvPr>
          <p:cNvSpPr>
            <a:spLocks noGrp="1"/>
          </p:cNvSpPr>
          <p:nvPr>
            <p:ph idx="1"/>
          </p:nvPr>
        </p:nvSpPr>
        <p:spPr>
          <a:xfrm>
            <a:off x="139959" y="1110343"/>
            <a:ext cx="11971176" cy="5337110"/>
          </a:xfrm>
        </p:spPr>
        <p:txBody>
          <a:bodyPr/>
          <a:lstStyle/>
          <a:p>
            <a:pPr marL="45720" indent="0" algn="ctr">
              <a:buNone/>
            </a:pPr>
            <a:r>
              <a:rPr lang="en-US" dirty="0"/>
              <a:t>Here we aim to analyze cross-domain marine datasets and identify patterns, correlations, and predictive ecosystem trends using machine learning techniques</a:t>
            </a:r>
          </a:p>
          <a:p>
            <a:pPr marL="45720" indent="0">
              <a:buNone/>
            </a:pPr>
            <a:r>
              <a:rPr lang="en-IN" b="1" dirty="0"/>
              <a:t>Correlation Analysis : </a:t>
            </a:r>
            <a:r>
              <a:rPr lang="en-US" dirty="0"/>
              <a:t>Identify relationships between oceanographic parameters and biodiversity indicators  </a:t>
            </a:r>
          </a:p>
          <a:p>
            <a:pPr marL="45720" indent="0">
              <a:buNone/>
            </a:pPr>
            <a:r>
              <a:rPr lang="en-US" u="sng" dirty="0"/>
              <a:t>Tech researched </a:t>
            </a:r>
            <a:r>
              <a:rPr lang="en-US" dirty="0"/>
              <a:t>:Pearson Correlation , Spearman Rank Correlation , Mutual Information</a:t>
            </a:r>
          </a:p>
          <a:p>
            <a:pPr marL="45720" indent="0">
              <a:buNone/>
            </a:pPr>
            <a:r>
              <a:rPr lang="en-IN" b="1" dirty="0"/>
              <a:t>Predictive Modelling </a:t>
            </a:r>
            <a:r>
              <a:rPr lang="en-IN" dirty="0"/>
              <a:t>: To predict </a:t>
            </a:r>
            <a:r>
              <a:rPr lang="en-US" dirty="0"/>
              <a:t>species abundance ,fish distribution ,biodiversity hotspots </a:t>
            </a:r>
          </a:p>
          <a:p>
            <a:pPr marL="45720" indent="0">
              <a:buNone/>
            </a:pPr>
            <a:r>
              <a:rPr lang="en-US" u="sng" dirty="0"/>
              <a:t>Tech researched </a:t>
            </a:r>
            <a:r>
              <a:rPr lang="en-US" dirty="0"/>
              <a:t>:</a:t>
            </a:r>
            <a:r>
              <a:rPr lang="en-IN" dirty="0"/>
              <a:t> Random Forest , </a:t>
            </a:r>
            <a:r>
              <a:rPr lang="en-IN" dirty="0" err="1"/>
              <a:t>XGBoost</a:t>
            </a:r>
            <a:r>
              <a:rPr lang="en-IN" dirty="0"/>
              <a:t> , Gradient Boosting , Linear Regression </a:t>
            </a:r>
            <a:endParaRPr lang="en-US" dirty="0"/>
          </a:p>
          <a:p>
            <a:pPr marL="45720" indent="0">
              <a:buNone/>
            </a:pPr>
            <a:r>
              <a:rPr lang="en-IN" b="1" dirty="0" err="1"/>
              <a:t>Spatio</a:t>
            </a:r>
            <a:r>
              <a:rPr lang="en-IN" b="1" dirty="0"/>
              <a:t> Temporal Analysis : </a:t>
            </a:r>
            <a:r>
              <a:rPr lang="en-IN" dirty="0"/>
              <a:t>To </a:t>
            </a:r>
            <a:r>
              <a:rPr lang="en-IN" dirty="0" err="1"/>
              <a:t>analyze</a:t>
            </a:r>
            <a:r>
              <a:rPr lang="en-IN" dirty="0"/>
              <a:t> the seasonal migration , climate impact patterns </a:t>
            </a:r>
          </a:p>
          <a:p>
            <a:pPr marL="45720" indent="0">
              <a:buNone/>
            </a:pPr>
            <a:r>
              <a:rPr lang="en-US" u="sng" dirty="0"/>
              <a:t>Tech researched </a:t>
            </a:r>
            <a:r>
              <a:rPr lang="en-US" dirty="0"/>
              <a:t>:</a:t>
            </a:r>
            <a:r>
              <a:rPr lang="en-IN" dirty="0"/>
              <a:t> LSTM (Long Short-Term Memory) , ARIMA (Time-Series Forecasting)</a:t>
            </a:r>
            <a:endParaRPr lang="en-US" dirty="0"/>
          </a:p>
          <a:p>
            <a:pPr marL="45720" indent="0">
              <a:buNone/>
            </a:pPr>
            <a:r>
              <a:rPr lang="en-IN" b="1" dirty="0"/>
              <a:t>Clustering for Ecosystem Zoning </a:t>
            </a:r>
            <a:r>
              <a:rPr lang="en-IN" dirty="0"/>
              <a:t>: To detect biodiversity clusters , marine ecological zones</a:t>
            </a:r>
          </a:p>
          <a:p>
            <a:pPr marL="45720" indent="0">
              <a:buNone/>
            </a:pPr>
            <a:r>
              <a:rPr lang="en-US" u="sng" dirty="0"/>
              <a:t>Tech researched </a:t>
            </a:r>
            <a:r>
              <a:rPr lang="en-US" dirty="0"/>
              <a:t>: </a:t>
            </a:r>
            <a:r>
              <a:rPr lang="en-IN" dirty="0"/>
              <a:t>K-Means Clustering , DBSCAN , Gaussian Mixture Models</a:t>
            </a:r>
          </a:p>
          <a:p>
            <a:pPr marL="45720" indent="0">
              <a:buNone/>
            </a:pPr>
            <a:endParaRPr lang="en-IN" dirty="0"/>
          </a:p>
        </p:txBody>
      </p:sp>
    </p:spTree>
    <p:extLst>
      <p:ext uri="{BB962C8B-B14F-4D97-AF65-F5344CB8AC3E}">
        <p14:creationId xmlns:p14="http://schemas.microsoft.com/office/powerpoint/2010/main" val="275865246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AFF1FDA-8286-81D4-D774-DB388E0C4AC6}"/>
              </a:ext>
            </a:extLst>
          </p:cNvPr>
          <p:cNvSpPr>
            <a:spLocks noGrp="1"/>
          </p:cNvSpPr>
          <p:nvPr>
            <p:ph type="title"/>
          </p:nvPr>
        </p:nvSpPr>
        <p:spPr>
          <a:xfrm>
            <a:off x="933062" y="265176"/>
            <a:ext cx="9917818" cy="807844"/>
          </a:xfrm>
        </p:spPr>
        <p:txBody>
          <a:bodyPr>
            <a:normAutofit/>
          </a:bodyPr>
          <a:lstStyle/>
          <a:p>
            <a:pPr algn="ctr"/>
            <a:r>
              <a:rPr lang="en-IN" b="1" dirty="0"/>
              <a:t>Visualization &amp; Insights</a:t>
            </a:r>
          </a:p>
        </p:txBody>
      </p:sp>
      <p:sp>
        <p:nvSpPr>
          <p:cNvPr id="3" name="Content Placeholder 2">
            <a:extLst>
              <a:ext uri="{FF2B5EF4-FFF2-40B4-BE49-F238E27FC236}">
                <a16:creationId xmlns:a16="http://schemas.microsoft.com/office/drawing/2014/main" id="{2FC4465A-3605-C145-B888-D07A85924F9A}"/>
              </a:ext>
            </a:extLst>
          </p:cNvPr>
          <p:cNvSpPr>
            <a:spLocks noGrp="1"/>
          </p:cNvSpPr>
          <p:nvPr>
            <p:ph idx="1"/>
          </p:nvPr>
        </p:nvSpPr>
        <p:spPr>
          <a:xfrm>
            <a:off x="205273" y="1427584"/>
            <a:ext cx="11812556" cy="5165240"/>
          </a:xfrm>
        </p:spPr>
        <p:txBody>
          <a:bodyPr>
            <a:normAutofit/>
          </a:bodyPr>
          <a:lstStyle/>
          <a:p>
            <a:pPr marL="45720" indent="0" algn="ctr">
              <a:buNone/>
            </a:pPr>
            <a:r>
              <a:rPr lang="en-IN" dirty="0"/>
              <a:t>Here we aim to </a:t>
            </a:r>
            <a:r>
              <a:rPr lang="en-US" dirty="0"/>
              <a:t>transform AI-driven analytical outputs into interactive, geospatial visual dashboards for decision-making and marine ecosystem monitoring</a:t>
            </a:r>
          </a:p>
          <a:p>
            <a:pPr marL="45720" indent="0">
              <a:buNone/>
            </a:pPr>
            <a:r>
              <a:rPr lang="en-US" b="1" dirty="0"/>
              <a:t>Visualization Components discussed :</a:t>
            </a:r>
          </a:p>
          <a:p>
            <a:pPr marL="45720" indent="0">
              <a:buNone/>
            </a:pPr>
            <a:r>
              <a:rPr lang="en-US" u="sng" dirty="0"/>
              <a:t>Geospatial Heatmaps </a:t>
            </a:r>
            <a:r>
              <a:rPr lang="en-US" dirty="0"/>
              <a:t>: Biodiversity hotspot mapping , Fish distribution density maps</a:t>
            </a:r>
          </a:p>
          <a:p>
            <a:pPr marL="45720" indent="0">
              <a:buNone/>
            </a:pPr>
            <a:r>
              <a:rPr lang="en-US" u="sng" dirty="0"/>
              <a:t>Time-Series Graphs </a:t>
            </a:r>
            <a:r>
              <a:rPr lang="en-US" dirty="0"/>
              <a:t>: Seasonal migration patterns ,Temperature vs species abundance trends</a:t>
            </a:r>
          </a:p>
          <a:p>
            <a:pPr marL="45720" indent="0">
              <a:buNone/>
            </a:pPr>
            <a:r>
              <a:rPr lang="en-US" u="sng" dirty="0"/>
              <a:t>Interactive Dashboards </a:t>
            </a:r>
            <a:r>
              <a:rPr lang="en-US" dirty="0"/>
              <a:t>: Multi-parameter filtering , Cross-domain data comparison , Real-time analytics updates</a:t>
            </a:r>
          </a:p>
          <a:p>
            <a:pPr marL="45720" indent="0">
              <a:buNone/>
            </a:pPr>
            <a:r>
              <a:rPr lang="en-US" u="sng" dirty="0"/>
              <a:t>Layer-Based Mapping</a:t>
            </a:r>
            <a:r>
              <a:rPr lang="en-US" dirty="0"/>
              <a:t> : Overlay oceanographic parameters with species distribution , Habitat impact visualization</a:t>
            </a:r>
            <a:endParaRPr lang="en-IN" dirty="0"/>
          </a:p>
        </p:txBody>
      </p:sp>
    </p:spTree>
    <p:extLst>
      <p:ext uri="{BB962C8B-B14F-4D97-AF65-F5344CB8AC3E}">
        <p14:creationId xmlns:p14="http://schemas.microsoft.com/office/powerpoint/2010/main" val="31039843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ctr"/>
            <a:r>
              <a:rPr sz="4000" b="1" dirty="0">
                <a:solidFill>
                  <a:schemeClr val="tx1"/>
                </a:solidFill>
              </a:rPr>
              <a:t>Proposed Solution</a:t>
            </a:r>
          </a:p>
        </p:txBody>
      </p:sp>
      <p:sp>
        <p:nvSpPr>
          <p:cNvPr id="3" name="Content Placeholder 2"/>
          <p:cNvSpPr>
            <a:spLocks noGrp="1"/>
          </p:cNvSpPr>
          <p:nvPr>
            <p:ph idx="1"/>
          </p:nvPr>
        </p:nvSpPr>
        <p:spPr/>
        <p:txBody>
          <a:bodyPr>
            <a:normAutofit/>
          </a:bodyPr>
          <a:lstStyle/>
          <a:p>
            <a:pPr marL="502920" indent="-457200">
              <a:buFont typeface="+mj-lt"/>
              <a:buAutoNum type="arabicPeriod"/>
            </a:pPr>
            <a:r>
              <a:rPr sz="2500" dirty="0"/>
              <a:t>Unified digital ecosystem integrating marine, fisheries, and molecular biodiversity datasets.</a:t>
            </a:r>
          </a:p>
          <a:p>
            <a:pPr marL="502920" indent="-457200">
              <a:buFont typeface="+mj-lt"/>
              <a:buAutoNum type="arabicPeriod"/>
            </a:pPr>
            <a:r>
              <a:rPr sz="2500" dirty="0"/>
              <a:t> AI-powered ingestion pipeline for automated metadata tagging and standardization.</a:t>
            </a:r>
          </a:p>
          <a:p>
            <a:pPr marL="502920" indent="-457200">
              <a:buFont typeface="+mj-lt"/>
              <a:buAutoNum type="arabicPeriod"/>
            </a:pPr>
            <a:r>
              <a:rPr sz="2500" dirty="0"/>
              <a:t> Real-time analytics engine to correlate oceanographic parameters with species distribution.</a:t>
            </a:r>
          </a:p>
          <a:p>
            <a:pPr marL="502920" indent="-457200">
              <a:buFont typeface="+mj-lt"/>
              <a:buAutoNum type="arabicPeriod"/>
            </a:pPr>
            <a:r>
              <a:rPr sz="2500" dirty="0"/>
              <a:t>Interactive dashboards for researchers and marine authorities.</a:t>
            </a:r>
          </a:p>
          <a:p>
            <a:pPr marL="502920" indent="-457200">
              <a:buFont typeface="+mj-lt"/>
              <a:buAutoNum type="arabicPeriod"/>
            </a:pPr>
            <a:r>
              <a:rPr sz="2500" dirty="0"/>
              <a:t>Supports national-scale biodiversity management under </a:t>
            </a:r>
            <a:r>
              <a:rPr sz="2500" dirty="0" err="1"/>
              <a:t>MoES</a:t>
            </a:r>
            <a:r>
              <a:rPr sz="2200" dirty="0"/>
              <a:t>.</a:t>
            </a: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7A5A5-816A-1321-0521-DC0AB6B807F1}"/>
              </a:ext>
            </a:extLst>
          </p:cNvPr>
          <p:cNvSpPr>
            <a:spLocks noGrp="1"/>
          </p:cNvSpPr>
          <p:nvPr>
            <p:ph type="title"/>
          </p:nvPr>
        </p:nvSpPr>
        <p:spPr>
          <a:xfrm>
            <a:off x="1341120" y="265176"/>
            <a:ext cx="9509759" cy="598424"/>
          </a:xfrm>
        </p:spPr>
        <p:txBody>
          <a:bodyPr>
            <a:normAutofit fontScale="90000"/>
          </a:bodyPr>
          <a:lstStyle/>
          <a:p>
            <a:pPr algn="ctr"/>
            <a:r>
              <a:rPr lang="en-IN" sz="4000" b="1" i="1" dirty="0">
                <a:solidFill>
                  <a:schemeClr val="tx1">
                    <a:lumMod val="95000"/>
                    <a:lumOff val="5000"/>
                  </a:schemeClr>
                </a:solidFill>
              </a:rPr>
              <a:t>R</a:t>
            </a:r>
            <a:r>
              <a:rPr lang="en-IN" sz="4400" b="1" i="1" dirty="0">
                <a:solidFill>
                  <a:schemeClr val="tx1">
                    <a:lumMod val="95000"/>
                    <a:lumOff val="5000"/>
                  </a:schemeClr>
                </a:solidFill>
              </a:rPr>
              <a:t>eferences</a:t>
            </a:r>
          </a:p>
        </p:txBody>
      </p:sp>
      <p:sp>
        <p:nvSpPr>
          <p:cNvPr id="3" name="Content Placeholder 2">
            <a:extLst>
              <a:ext uri="{FF2B5EF4-FFF2-40B4-BE49-F238E27FC236}">
                <a16:creationId xmlns:a16="http://schemas.microsoft.com/office/drawing/2014/main" id="{7624AAB2-FB97-5710-26A1-8C96C74DD0D1}"/>
              </a:ext>
            </a:extLst>
          </p:cNvPr>
          <p:cNvSpPr>
            <a:spLocks noGrp="1"/>
          </p:cNvSpPr>
          <p:nvPr>
            <p:ph idx="1"/>
          </p:nvPr>
        </p:nvSpPr>
        <p:spPr>
          <a:xfrm>
            <a:off x="314325" y="990601"/>
            <a:ext cx="11687175" cy="5349239"/>
          </a:xfrm>
        </p:spPr>
        <p:txBody>
          <a:bodyPr>
            <a:normAutofit lnSpcReduction="10000"/>
          </a:bodyPr>
          <a:lstStyle/>
          <a:p>
            <a:pPr marL="388620" indent="-342900">
              <a:buFont typeface="+mj-lt"/>
              <a:buAutoNum type="arabicPeriod"/>
            </a:pPr>
            <a:r>
              <a:rPr lang="en-US" b="1" dirty="0"/>
              <a:t>Centre for Marine Living Resources and Ecology (CMLRE)</a:t>
            </a:r>
            <a:r>
              <a:rPr lang="en-US" dirty="0"/>
              <a:t> –</a:t>
            </a:r>
            <a:br>
              <a:rPr lang="en-US" dirty="0"/>
            </a:br>
            <a:r>
              <a:rPr lang="en-US" i="1" dirty="0"/>
              <a:t>Official website, Ministry of Earth Sciences, Government of India.</a:t>
            </a:r>
            <a:br>
              <a:rPr lang="en-US" dirty="0"/>
            </a:br>
            <a:r>
              <a:rPr lang="en-US" dirty="0"/>
              <a:t>🔗 </a:t>
            </a:r>
            <a:r>
              <a:rPr lang="en-US" dirty="0">
                <a:hlinkClick r:id="rId2"/>
              </a:rPr>
              <a:t>https://www.cmlre.gov.in</a:t>
            </a:r>
            <a:endParaRPr lang="en-US" dirty="0"/>
          </a:p>
          <a:p>
            <a:pPr marL="388620" indent="-342900">
              <a:buFont typeface="+mj-lt"/>
              <a:buAutoNum type="arabicPeriod"/>
            </a:pPr>
            <a:r>
              <a:rPr lang="en-US" b="1" dirty="0"/>
              <a:t>Ocean Biodiversity Information System (OBIS)</a:t>
            </a:r>
            <a:r>
              <a:rPr lang="en-US" dirty="0"/>
              <a:t> –</a:t>
            </a:r>
            <a:br>
              <a:rPr lang="en-US" dirty="0"/>
            </a:br>
            <a:r>
              <a:rPr lang="en-US" i="1" dirty="0"/>
              <a:t>Global repository for marine species data and distribution.</a:t>
            </a:r>
            <a:br>
              <a:rPr lang="en-US" dirty="0"/>
            </a:br>
            <a:r>
              <a:rPr lang="en-US" dirty="0"/>
              <a:t>🔗 </a:t>
            </a:r>
            <a:r>
              <a:rPr lang="en-US" dirty="0">
                <a:hlinkClick r:id="rId3"/>
              </a:rPr>
              <a:t>https://obis.org</a:t>
            </a:r>
            <a:endParaRPr lang="en-US" dirty="0"/>
          </a:p>
          <a:p>
            <a:pPr marL="388620" indent="-342900">
              <a:buFont typeface="+mj-lt"/>
              <a:buAutoNum type="arabicPeriod"/>
            </a:pPr>
            <a:r>
              <a:rPr lang="en-US" b="1" dirty="0"/>
              <a:t>Global Biodiversity Information Facility (GBIF)</a:t>
            </a:r>
            <a:r>
              <a:rPr lang="en-US" dirty="0"/>
              <a:t> –</a:t>
            </a:r>
            <a:br>
              <a:rPr lang="en-US" dirty="0"/>
            </a:br>
            <a:r>
              <a:rPr lang="en-US" i="1" dirty="0"/>
              <a:t>International network providing access to biodiversity data.</a:t>
            </a:r>
            <a:br>
              <a:rPr lang="en-US" dirty="0"/>
            </a:br>
            <a:r>
              <a:rPr lang="en-US" dirty="0"/>
              <a:t>🔗 </a:t>
            </a:r>
            <a:r>
              <a:rPr lang="en-US" dirty="0">
                <a:hlinkClick r:id="rId4"/>
              </a:rPr>
              <a:t>https://www.gbif.org</a:t>
            </a:r>
            <a:endParaRPr lang="en-US" dirty="0"/>
          </a:p>
          <a:p>
            <a:pPr marL="388620" indent="-342900">
              <a:buFont typeface="+mj-lt"/>
              <a:buAutoNum type="arabicPeriod"/>
            </a:pPr>
            <a:r>
              <a:rPr lang="en-US" b="1" dirty="0"/>
              <a:t>Ministry of Earth Sciences (</a:t>
            </a:r>
            <a:r>
              <a:rPr lang="en-US" b="1" dirty="0" err="1"/>
              <a:t>MoES</a:t>
            </a:r>
            <a:r>
              <a:rPr lang="en-US" b="1" dirty="0"/>
              <a:t>), Government of India</a:t>
            </a:r>
            <a:r>
              <a:rPr lang="en-US" dirty="0"/>
              <a:t> –</a:t>
            </a:r>
            <a:br>
              <a:rPr lang="en-US" dirty="0"/>
            </a:br>
            <a:r>
              <a:rPr lang="en-US" i="1" dirty="0"/>
              <a:t>Annual reports and marine resource management initiatives.</a:t>
            </a:r>
            <a:br>
              <a:rPr lang="en-US" dirty="0"/>
            </a:br>
            <a:r>
              <a:rPr lang="en-US" dirty="0"/>
              <a:t>🔗 </a:t>
            </a:r>
            <a:r>
              <a:rPr lang="en-US" dirty="0">
                <a:hlinkClick r:id="rId5"/>
              </a:rPr>
              <a:t>https://moes.gov.in</a:t>
            </a:r>
            <a:endParaRPr lang="en-US" dirty="0"/>
          </a:p>
          <a:p>
            <a:pPr marL="388620" indent="-342900">
              <a:buFont typeface="+mj-lt"/>
              <a:buAutoNum type="arabicPeriod"/>
            </a:pPr>
            <a:r>
              <a:rPr lang="en-IN" b="1" dirty="0"/>
              <a:t>He, X., Jeffery, N. W., Stanley, R. R. E., Hamilton, L. C., Rubidge, E. M., &amp; Abbott, C. L. (2023). eDNA metabarcoding enriches traditional trawl survey data for monitoring biodiversity in the marine environment. </a:t>
            </a:r>
            <a:r>
              <a:rPr lang="en-IN" b="1" i="1" dirty="0"/>
              <a:t>ICES Journal of Marine Science</a:t>
            </a:r>
            <a:r>
              <a:rPr lang="en-IN" b="1" dirty="0"/>
              <a:t>, </a:t>
            </a:r>
            <a:r>
              <a:rPr lang="en-IN" b="1" i="1" dirty="0"/>
              <a:t>80</a:t>
            </a:r>
            <a:r>
              <a:rPr lang="en-IN" b="1" dirty="0"/>
              <a:t>(5), 1529-1538. </a:t>
            </a:r>
            <a:r>
              <a:rPr lang="en-IN" b="1" dirty="0">
                <a:hlinkClick r:id="rId6"/>
              </a:rPr>
              <a:t>https://doi.org/10.1093/icesjms/fsad083</a:t>
            </a:r>
            <a:r>
              <a:rPr lang="en-IN" b="1" dirty="0"/>
              <a:t> </a:t>
            </a:r>
            <a:endParaRPr lang="en-US" dirty="0"/>
          </a:p>
        </p:txBody>
      </p:sp>
    </p:spTree>
    <p:extLst>
      <p:ext uri="{BB962C8B-B14F-4D97-AF65-F5344CB8AC3E}">
        <p14:creationId xmlns:p14="http://schemas.microsoft.com/office/powerpoint/2010/main" val="5042524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15A2BD1-9A13-1CDF-7618-4A1B2044500D}"/>
              </a:ext>
            </a:extLst>
          </p:cNvPr>
          <p:cNvSpPr>
            <a:spLocks noGrp="1"/>
          </p:cNvSpPr>
          <p:nvPr>
            <p:ph idx="1"/>
          </p:nvPr>
        </p:nvSpPr>
        <p:spPr>
          <a:xfrm>
            <a:off x="203200" y="792480"/>
            <a:ext cx="11734800" cy="5334000"/>
          </a:xfrm>
        </p:spPr>
        <p:txBody>
          <a:bodyPr/>
          <a:lstStyle/>
          <a:p>
            <a:pPr marL="45720" indent="0">
              <a:buNone/>
            </a:pPr>
            <a:r>
              <a:rPr lang="en-IN" b="1" dirty="0"/>
              <a:t>6. Kvalheim, L., Stensrud, E., Knutsen, H., Hyvärinen, O., &amp; Eiler, A. (2024). Integration of citizen science and eDNA reveals novel ecological insights for marine fish conservation. Environmental DNA, 6(4), e584.</a:t>
            </a:r>
            <a:r>
              <a:rPr lang="en-IN" b="1" dirty="0">
                <a:hlinkClick r:id="rId2"/>
              </a:rPr>
              <a:t> https://doi.org/10.1002/edn3.584</a:t>
            </a:r>
            <a:endParaRPr lang="en-IN" b="1" dirty="0"/>
          </a:p>
          <a:p>
            <a:pPr marL="45720" indent="0">
              <a:buNone/>
            </a:pPr>
            <a:r>
              <a:rPr lang="en-IN" b="1" dirty="0"/>
              <a:t>7. </a:t>
            </a:r>
            <a:r>
              <a:rPr lang="en-US" b="1" dirty="0" err="1"/>
              <a:t>Gesami</a:t>
            </a:r>
            <a:r>
              <a:rPr lang="en-US" b="1" dirty="0"/>
              <a:t>, B. K., &amp; Nunoo, J. (2024). Artificial intelligence in marine ecosystem management: addressing climate threats to Kenya’s blue economy. Frontiers in Marine Science, 11, 1404104.</a:t>
            </a:r>
            <a:r>
              <a:rPr lang="en-IN" dirty="0">
                <a:hlinkClick r:id="rId3"/>
              </a:rPr>
              <a:t> https://doi.org/10.3389/fmars.2024.1404104</a:t>
            </a:r>
            <a:endParaRPr lang="en-US" b="1" dirty="0"/>
          </a:p>
          <a:p>
            <a:pPr marL="45720" indent="0">
              <a:buNone/>
            </a:pPr>
            <a:r>
              <a:rPr lang="en-US" b="1" dirty="0"/>
              <a:t>8. </a:t>
            </a:r>
            <a:r>
              <a:rPr lang="en-US" b="1" dirty="0" err="1"/>
              <a:t>Talpaert</a:t>
            </a:r>
            <a:r>
              <a:rPr lang="en-US" b="1" dirty="0"/>
              <a:t> Daudon, J., Contini, M., Urbina-Barreto, I., Elliott, B., </a:t>
            </a:r>
            <a:r>
              <a:rPr lang="en-US" b="1" dirty="0" err="1"/>
              <a:t>Guilhaumon</a:t>
            </a:r>
            <a:r>
              <a:rPr lang="en-US" b="1" dirty="0"/>
              <a:t>, F., Joly, A., ... &amp; Barde, J. (2023, June). </a:t>
            </a:r>
            <a:r>
              <a:rPr lang="en-US" b="1" dirty="0" err="1"/>
              <a:t>Geoai</a:t>
            </a:r>
            <a:r>
              <a:rPr lang="en-US" b="1" dirty="0"/>
              <a:t> for marine ecosystem monitoring: A complete workflow to generate maps from ai model predictions. In The International Archives of the Photogrammetry, Remote Sensing and Spatial Information Sciences (Vol. 48, pp. 223-230). Copernicus GmbH. </a:t>
            </a:r>
            <a:r>
              <a:rPr lang="en-US" b="1" dirty="0">
                <a:hlinkClick r:id="rId4"/>
              </a:rPr>
              <a:t>https://doi.org/10.5194/isprs-archives-XLVIII-4-W7-2023-223-2023</a:t>
            </a:r>
            <a:r>
              <a:rPr lang="en-US" b="1" dirty="0"/>
              <a:t> </a:t>
            </a:r>
          </a:p>
          <a:p>
            <a:pPr marL="45720" indent="0">
              <a:buNone/>
            </a:pPr>
            <a:r>
              <a:rPr lang="en-US" b="1" dirty="0"/>
              <a:t>9. </a:t>
            </a:r>
            <a:r>
              <a:rPr lang="en-US" b="1" dirty="0" err="1"/>
              <a:t>Ditria</a:t>
            </a:r>
            <a:r>
              <a:rPr lang="en-US" b="1" dirty="0"/>
              <a:t>, E. M., Buelow, C. A., Gonzalez-Rivero, M., &amp; Connolly, R. M. (2022). Artificial intelligence and automated monitoring for assisting conservation of marine ecosystems: A perspective. Frontiers in Marine Science, 9, 918104. </a:t>
            </a:r>
            <a:r>
              <a:rPr lang="en-US" b="1" dirty="0">
                <a:hlinkClick r:id="rId5"/>
              </a:rPr>
              <a:t>https://doi.org/10.3389/fmars.2022.918104</a:t>
            </a:r>
            <a:r>
              <a:rPr lang="en-US" b="1" dirty="0"/>
              <a:t> </a:t>
            </a:r>
          </a:p>
        </p:txBody>
      </p:sp>
    </p:spTree>
    <p:extLst>
      <p:ext uri="{BB962C8B-B14F-4D97-AF65-F5344CB8AC3E}">
        <p14:creationId xmlns:p14="http://schemas.microsoft.com/office/powerpoint/2010/main" val="14835622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4DE8656-13B1-9EB6-3FEA-B7238B361C9F}"/>
              </a:ext>
            </a:extLst>
          </p:cNvPr>
          <p:cNvSpPr>
            <a:spLocks noGrp="1"/>
          </p:cNvSpPr>
          <p:nvPr>
            <p:ph type="ctrTitle"/>
          </p:nvPr>
        </p:nvSpPr>
        <p:spPr/>
        <p:txBody>
          <a:bodyPr/>
          <a:lstStyle/>
          <a:p>
            <a:r>
              <a:rPr lang="en-IN" sz="7000" b="1" dirty="0"/>
              <a:t>THANK YOU </a:t>
            </a:r>
          </a:p>
        </p:txBody>
      </p:sp>
    </p:spTree>
    <p:extLst>
      <p:ext uri="{BB962C8B-B14F-4D97-AF65-F5344CB8AC3E}">
        <p14:creationId xmlns:p14="http://schemas.microsoft.com/office/powerpoint/2010/main" val="2755321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theme/theme1.xml><?xml version="1.0" encoding="utf-8"?>
<a:theme xmlns:a="http://schemas.openxmlformats.org/drawingml/2006/main" name="Ocean 16x9">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cean painting presentation (widescreen).potx" id="{7D8F5DB3-F878-46D5-AF2D-2DD5B7369221}" vid="{9251DF30-C224-466C-9BFA-3064FAD55731}"/>
    </a:ext>
  </a:extLst>
</a:theme>
</file>

<file path=ppt/theme/theme2.xml><?xml version="1.0" encoding="utf-8"?>
<a:theme xmlns:a="http://schemas.openxmlformats.org/drawingml/2006/main" name="Office Theme">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ppt/theme/theme3.xml><?xml version="1.0" encoding="utf-8"?>
<a:theme xmlns:a="http://schemas.openxmlformats.org/drawingml/2006/main" name="Office Theme">
  <a:themeElements>
    <a:clrScheme name="Ocean">
      <a:dk1>
        <a:sysClr val="windowText" lastClr="000000"/>
      </a:dk1>
      <a:lt1>
        <a:sysClr val="window" lastClr="FFFFFF"/>
      </a:lt1>
      <a:dk2>
        <a:srgbClr val="323232"/>
      </a:dk2>
      <a:lt2>
        <a:srgbClr val="E3DED1"/>
      </a:lt2>
      <a:accent1>
        <a:srgbClr val="4557A1"/>
      </a:accent1>
      <a:accent2>
        <a:srgbClr val="3691AA"/>
      </a:accent2>
      <a:accent3>
        <a:srgbClr val="893768"/>
      </a:accent3>
      <a:accent4>
        <a:srgbClr val="4E8542"/>
      </a:accent4>
      <a:accent5>
        <a:srgbClr val="A25A12"/>
      </a:accent5>
      <a:accent6>
        <a:srgbClr val="C19859"/>
      </a:accent6>
      <a:hlink>
        <a:srgbClr val="6B9F25"/>
      </a:hlink>
      <a:folHlink>
        <a:srgbClr val="B26B02"/>
      </a:folHlink>
    </a:clrScheme>
    <a:fontScheme name="Georgia">
      <a:maj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Georgia"/>
        <a:ea typeface=""/>
        <a:cs typeface=""/>
        <a:font script="Jpan" typeface="ＭＳ ゴシック"/>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hade val="98000"/>
                <a:satMod val="150000"/>
                <a:lumMod val="102000"/>
              </a:schemeClr>
            </a:gs>
            <a:gs pos="50000">
              <a:schemeClr val="phClr">
                <a:tint val="98000"/>
                <a:shade val="90000"/>
                <a:satMod val="130000"/>
                <a:lumMod val="103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Ocean painting presentation (widescreen)</Template>
  <TotalTime>897</TotalTime>
  <Words>2089</Words>
  <Application>Microsoft Office PowerPoint</Application>
  <PresentationFormat>Widescreen</PresentationFormat>
  <Paragraphs>199</Paragraphs>
  <Slides>20</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20</vt:i4>
      </vt:variant>
    </vt:vector>
  </HeadingPairs>
  <TitlesOfParts>
    <vt:vector size="25" baseType="lpstr">
      <vt:lpstr>Arial</vt:lpstr>
      <vt:lpstr>Georgia</vt:lpstr>
      <vt:lpstr>Montserrat Italic</vt:lpstr>
      <vt:lpstr>Wingdings</vt:lpstr>
      <vt:lpstr>Ocean 16x9</vt:lpstr>
      <vt:lpstr> An Intelligent Data Integration Framework for Marine Biodiversity Research</vt:lpstr>
      <vt:lpstr>OUTLINE</vt:lpstr>
      <vt:lpstr>CMLRE (Centre for Marine Living Resources and Ecology)</vt:lpstr>
      <vt:lpstr>Existing Data Systems &amp; Limitations</vt:lpstr>
      <vt:lpstr>PowerPoint Presentation</vt:lpstr>
      <vt:lpstr>PowerPoint Presentation</vt:lpstr>
      <vt:lpstr>Research Gap</vt:lpstr>
      <vt:lpstr>PROBLEM STATEMENT</vt:lpstr>
      <vt:lpstr>Objectives </vt:lpstr>
      <vt:lpstr>Methodology</vt:lpstr>
      <vt:lpstr> Data collection </vt:lpstr>
      <vt:lpstr>Data Preprocessing and Standardization</vt:lpstr>
      <vt:lpstr>Metadata Tagging </vt:lpstr>
      <vt:lpstr>Data Integration</vt:lpstr>
      <vt:lpstr>AI / ML Modelling</vt:lpstr>
      <vt:lpstr>Visualization &amp; Insights</vt:lpstr>
      <vt:lpstr>Proposed Solution</vt:lpstr>
      <vt:lpstr>References</vt:lpstr>
      <vt:lpstr>PowerPoint Presentation</vt:lpstr>
      <vt:lpstr>THANK YOU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Abhilasha Fauzdar</dc:creator>
  <cp:lastModifiedBy>Srishti Pilania</cp:lastModifiedBy>
  <cp:revision>9</cp:revision>
  <dcterms:created xsi:type="dcterms:W3CDTF">2025-10-05T05:09:20Z</dcterms:created>
  <dcterms:modified xsi:type="dcterms:W3CDTF">2026-02-13T17:43:32Z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nternalTags">
    <vt:lpwstr/>
  </property>
  <property fmtid="{D5CDD505-2E9C-101B-9397-08002B2CF9AE}" pid="3" name="ContentTypeId">
    <vt:lpwstr>0x010100AA3F7D94069FF64A86F7DFF56D60E3BE</vt:lpwstr>
  </property>
  <property fmtid="{D5CDD505-2E9C-101B-9397-08002B2CF9AE}" pid="4" name="FeatureTags">
    <vt:lpwstr/>
  </property>
  <property fmtid="{D5CDD505-2E9C-101B-9397-08002B2CF9AE}" pid="5" name="LocalizationTags">
    <vt:lpwstr/>
  </property>
  <property fmtid="{D5CDD505-2E9C-101B-9397-08002B2CF9AE}" pid="6" name="ScenarioTags">
    <vt:lpwstr/>
  </property>
  <property fmtid="{D5CDD505-2E9C-101B-9397-08002B2CF9AE}" pid="7" name="CampaignTags">
    <vt:lpwstr/>
  </property>
</Properties>
</file>